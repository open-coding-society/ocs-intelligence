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88" r:id="rId39"/>
    <p:sldId id="259" r:id="rId9"/>
    <p:sldId id="260" r:id="rId10"/>
    <p:sldId id="261" r:id="rId11"/>
    <p:sldId id="262" r:id="rId12"/>
    <p:sldId id="289" r:id="rId40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90" r:id="rId41"/>
    <p:sldId id="291" r:id="rId42"/>
    <p:sldId id="286" r:id="rId36"/>
    <p:sldId id="287" r:id="rId3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giq/4rIxhklDd9IMe0A33UgEUY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7BB346-DABF-43D8-A5E1-1A7FE76E6F4E}">
  <a:tblStyle styleId="{507BB346-DABF-43D8-A5E1-1A7FE76E6F4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  <Relationship Id="rId39" Type="http://schemas.openxmlformats.org/officeDocument/2006/relationships/slide" Target="slides/slide33.xml"/>
  <Relationship Id="rId40" Type="http://schemas.openxmlformats.org/officeDocument/2006/relationships/slide" Target="slides/slide34.xml"/>
  <Relationship Id="rId41" Type="http://schemas.openxmlformats.org/officeDocument/2006/relationships/slide" Target="slides/slide35.xml"/>
  <Relationship Id="rId42" Type="http://schemas.openxmlformats.org/officeDocument/2006/relationships/slide" Target="slides/slide36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Mihir</a:t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7b7359692d36f557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h7b7359692d36f557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</a:t>
            </a:r>
            <a:endParaRPr/>
          </a:p>
        </p:txBody>
      </p:sp>
      <p:sp>
        <p:nvSpPr>
          <p:cNvPr id="75" name="Google Shape;75;h7b7359692d36f557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Adi</a:t>
            </a:r>
            <a:endParaRPr/>
          </a:p>
        </p:txBody>
      </p:sp>
      <p:sp>
        <p:nvSpPr>
          <p:cNvPr id="91" name="Google Shape;9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Nikhil</a:t>
            </a:r>
            <a:endParaRPr/>
          </a:p>
        </p:txBody>
      </p:sp>
      <p:sp>
        <p:nvSpPr>
          <p:cNvPr id="118" name="Google Shape;11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Anvay</a:t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</a:t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Mihir</a:t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Adi</a:t>
            </a:r>
            <a:endParaRPr/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Mihir</a:t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Nikhil</a:t>
            </a:r>
            <a:endParaRPr/>
          </a:p>
        </p:txBody>
      </p:sp>
      <p:sp>
        <p:nvSpPr>
          <p:cNvPr id="273" name="Google Shape;2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Mihir</a:t>
            </a:r>
            <a:endParaRPr/>
          </a:p>
        </p:txBody>
      </p:sp>
      <p:sp>
        <p:nvSpPr>
          <p:cNvPr id="296" name="Google Shape;29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h7b7359692d36f557_3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h7b7359692d36f557_3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Adi</a:t>
            </a:r>
            <a:endParaRPr/>
          </a:p>
        </p:txBody>
      </p:sp>
      <p:sp>
        <p:nvSpPr>
          <p:cNvPr id="307" name="Google Shape;307;h7b7359692d36f557_3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 Parikh</a:t>
            </a:r>
            <a:endParaRPr/>
          </a:p>
        </p:txBody>
      </p:sp>
      <p:sp>
        <p:nvSpPr>
          <p:cNvPr id="317" name="Google Shape;31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 Patil</a:t>
            </a:r>
            <a:endParaRPr/>
          </a:p>
        </p:txBody>
      </p:sp>
      <p:sp>
        <p:nvSpPr>
          <p:cNvPr id="344" name="Google Shape;3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Adi</a:t>
            </a:r>
            <a:endParaRPr/>
          </a:p>
        </p:txBody>
      </p:sp>
      <p:sp>
        <p:nvSpPr>
          <p:cNvPr id="392" name="Google Shape;39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Nikhil</a:t>
            </a:r>
            <a:endParaRPr/>
          </a:p>
        </p:txBody>
      </p:sp>
      <p:sp>
        <p:nvSpPr>
          <p:cNvPr id="413" name="Google Shape;4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Nikhil</a:t>
            </a:r>
            <a:endParaRPr/>
          </a:p>
        </p:txBody>
      </p:sp>
      <p:sp>
        <p:nvSpPr>
          <p:cNvPr id="435" name="Google Shape;43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Anvay</a:t>
            </a:r>
            <a:endParaRPr/>
          </a:p>
        </p:txBody>
      </p:sp>
      <p:sp>
        <p:nvSpPr>
          <p:cNvPr id="464" name="Google Shape;46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h7b7359692d36f55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h7b7359692d36f55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</a:t>
            </a:r>
            <a:endParaRPr/>
          </a:p>
        </p:txBody>
      </p:sp>
      <p:sp>
        <p:nvSpPr>
          <p:cNvPr id="477" name="Google Shape;477;h7b7359692d36f55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h7b7359692d36f557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h7b7359692d36f557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</a:t>
            </a:r>
            <a:endParaRPr/>
          </a:p>
        </p:txBody>
      </p:sp>
      <p:sp>
        <p:nvSpPr>
          <p:cNvPr id="486" name="Google Shape;486;h7b7359692d36f557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h7b7359692d36f557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h7b7359692d36f557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</a:t>
            </a:r>
            <a:endParaRPr/>
          </a:p>
        </p:txBody>
      </p:sp>
      <p:sp>
        <p:nvSpPr>
          <p:cNvPr id="495" name="Google Shape;495;h7b7359692d36f557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7b7359692d36f557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h7b7359692d36f557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</a:t>
            </a:r>
            <a:endParaRPr/>
          </a:p>
        </p:txBody>
      </p:sp>
      <p:sp>
        <p:nvSpPr>
          <p:cNvPr id="504" name="Google Shape;504;h7b7359692d36f557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Anvay</a:t>
            </a:r>
            <a:endParaRPr/>
          </a:p>
        </p:txBody>
      </p:sp>
      <p:sp>
        <p:nvSpPr>
          <p:cNvPr id="513" name="Google Shape;51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</a:t>
            </a:r>
            <a:endParaRPr/>
          </a:p>
        </p:txBody>
      </p:sp>
      <p:sp>
        <p:nvSpPr>
          <p:cNvPr id="523" name="Google Shape;52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</a:t>
            </a:r>
            <a:endParaRPr/>
          </a:p>
        </p:txBody>
      </p:sp>
      <p:sp>
        <p:nvSpPr>
          <p:cNvPr id="532" name="Google Shape;53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7" name="Google Shape;56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Mihir</a:t>
            </a:r>
            <a:endParaRPr/>
          </a:p>
        </p:txBody>
      </p:sp>
      <p:sp>
        <p:nvSpPr>
          <p:cNvPr id="568" name="Google Shape;56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Adi</a:t>
            </a:r>
            <a:endParaRPr/>
          </a:p>
        </p:txBody>
      </p:sp>
      <p:sp>
        <p:nvSpPr>
          <p:cNvPr id="583" name="Google Shape;58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Nikhil</a:t>
            </a:r>
            <a:endParaRPr/>
          </a:p>
        </p:txBody>
      </p:sp>
      <p:sp>
        <p:nvSpPr>
          <p:cNvPr id="618" name="Google Shape;61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</a:t>
            </a:r>
            <a:endParaRPr/>
          </a:p>
        </p:txBody>
      </p:sp>
      <p:sp>
        <p:nvSpPr>
          <p:cNvPr id="644" name="Google Shape;64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6" name="Google Shape;67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Yash Patil</a:t>
            </a:r>
            <a:endParaRPr/>
          </a:p>
        </p:txBody>
      </p:sp>
      <p:sp>
        <p:nvSpPr>
          <p:cNvPr id="677" name="Google Shape;67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Everyone</a:t>
            </a:r>
            <a:endParaRPr/>
          </a:p>
        </p:txBody>
      </p:sp>
      <p:sp>
        <p:nvSpPr>
          <p:cNvPr id="702" name="Google Shape;70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0.png"/><Relationship Id="rId6" Type="http://schemas.openxmlformats.org/officeDocument/2006/relationships/image" Target="../media/image8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7.png"/><Relationship Id="rId7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7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46.png"/><Relationship Id="rId6" Type="http://schemas.openxmlformats.org/officeDocument/2006/relationships/image" Target="../media/image5.png"/><Relationship Id="rId7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13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Relationship Id="rId7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Relationship Id="rId4" Type="http://schemas.openxmlformats.org/officeDocument/2006/relationships/image" Target="../media/image29.png"/><Relationship Id="rId5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wk1new-image-3-1.png"/><Relationship Id="rId2" Type="http://schemas.openxmlformats.org/officeDocument/2006/relationships/image" Target="../media/wk1new-image-3-2.png"/><Relationship Id="rId3" Type="http://schemas.openxmlformats.org/officeDocument/2006/relationships/image" Target="../media/wk1new-image-3-3.png"/><Relationship Id="rId4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D87A30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828800" y="4754880"/>
            <a:ext cx="3840480" cy="3840480"/>
          </a:xfrm>
          <a:prstGeom prst="ellipse">
            <a:avLst/>
          </a:prstGeom>
          <a:solidFill>
            <a:srgbClr val="D87A3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 txBox="1"/>
          <p:nvPr/>
        </p:nvSpPr>
        <p:spPr>
          <a:xfrm>
            <a:off x="621805" y="59435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OPEN CODING SOCIETY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21792" y="196596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6200"/>
              <a:buFont typeface="Cambria"/>
              <a:buNone/>
            </a:pPr>
            <a:r>
              <a:rPr b="1" i="0" lang="en-US" sz="6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OCS Intelligence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3246120"/>
            <a:ext cx="8778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 distributed AI infrastructure, built and owned by students, serving free coding models to every OCS student.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4343400"/>
            <a:ext cx="3383280" cy="420624"/>
          </a:xfrm>
          <a:prstGeom prst="roundRect">
            <a:avLst>
              <a:gd fmla="val 50000" name="adj"/>
            </a:avLst>
          </a:prstGeom>
          <a:solidFill>
            <a:srgbClr val="1D2028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 txBox="1"/>
          <p:nvPr/>
        </p:nvSpPr>
        <p:spPr>
          <a:xfrm>
            <a:off x="640080" y="4343400"/>
            <a:ext cx="33832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8× GTX 1070 × 2 RIGS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224528" y="4343400"/>
            <a:ext cx="1481328" cy="420624"/>
          </a:xfrm>
          <a:prstGeom prst="roundRect">
            <a:avLst>
              <a:gd fmla="val 50000" name="adj"/>
            </a:avLst>
          </a:prstGeom>
          <a:solidFill>
            <a:srgbClr val="1D2028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4224528" y="4343400"/>
            <a:ext cx="14813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NETBIRD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907024" y="4343400"/>
            <a:ext cx="1773936" cy="420624"/>
          </a:xfrm>
          <a:prstGeom prst="roundRect">
            <a:avLst>
              <a:gd fmla="val 50000" name="adj"/>
            </a:avLst>
          </a:prstGeom>
          <a:solidFill>
            <a:srgbClr val="1D2028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 txBox="1"/>
          <p:nvPr/>
        </p:nvSpPr>
        <p:spPr>
          <a:xfrm>
            <a:off x="5907024" y="4343400"/>
            <a:ext cx="1773936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LLAMA.CPP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882128" y="4343400"/>
            <a:ext cx="2066544" cy="420624"/>
          </a:xfrm>
          <a:prstGeom prst="roundRect">
            <a:avLst>
              <a:gd fmla="val 50000" name="adj"/>
            </a:avLst>
          </a:prstGeom>
          <a:solidFill>
            <a:srgbClr val="1D2028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82128" y="4343400"/>
            <a:ext cx="20665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QWEN3.8-27B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1"/>
          <p:cNvCxnSpPr/>
          <p:nvPr/>
        </p:nvCxnSpPr>
        <p:spPr>
          <a:xfrm>
            <a:off x="640080" y="5257800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1"/>
          <p:cNvSpPr txBox="1"/>
          <p:nvPr/>
        </p:nvSpPr>
        <p:spPr>
          <a:xfrm>
            <a:off x="640080" y="54406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Prepared for  </a:t>
            </a:r>
            <a:r>
              <a:rPr b="1" i="0" lang="en-US" sz="11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Open Coding Society</a:t>
            </a:r>
            <a:r>
              <a:rPr b="0" i="0" lang="en-US" sz="11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      Presented to  </a:t>
            </a:r>
            <a:r>
              <a:rPr b="1" i="0" lang="en-US" sz="11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Eddie Revollo, Mentor · Prometheus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01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One request, six hops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516555" y="1965910"/>
            <a:ext cx="1650900" cy="1920300"/>
          </a:xfrm>
          <a:prstGeom prst="roundRect">
            <a:avLst>
              <a:gd fmla="val 4985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2012846" y="2221942"/>
            <a:ext cx="658500" cy="65850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users.png" id="41" name="Google Shape;4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433" y="2307530"/>
            <a:ext cx="487192" cy="48719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1589707" y="3017470"/>
            <a:ext cx="150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Student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589707" y="3383230"/>
            <a:ext cx="150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3167504" y="2560270"/>
            <a:ext cx="20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368672" y="1965910"/>
            <a:ext cx="1650900" cy="1920300"/>
          </a:xfrm>
          <a:prstGeom prst="roundRect">
            <a:avLst>
              <a:gd fmla="val 4985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864963" y="2221942"/>
            <a:ext cx="658500" cy="65850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globe.png" id="47" name="Google Shape;4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0551" y="2307530"/>
            <a:ext cx="487192" cy="48719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 txBox="1"/>
          <p:nvPr/>
        </p:nvSpPr>
        <p:spPr>
          <a:xfrm>
            <a:off x="3441824" y="3017470"/>
            <a:ext cx="150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AWS Relay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3441824" y="3383230"/>
            <a:ext cx="150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NGINX / TLS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 txBox="1"/>
          <p:nvPr/>
        </p:nvSpPr>
        <p:spPr>
          <a:xfrm>
            <a:off x="5019621" y="2560270"/>
            <a:ext cx="20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220789" y="1965910"/>
            <a:ext cx="1650900" cy="1920300"/>
          </a:xfrm>
          <a:prstGeom prst="roundRect">
            <a:avLst>
              <a:gd fmla="val 4985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5717080" y="2221942"/>
            <a:ext cx="658500" cy="65850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share.png" id="53" name="Google Shape;5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2668" y="2307530"/>
            <a:ext cx="487192" cy="48719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/>
        </p:nvSpPr>
        <p:spPr>
          <a:xfrm>
            <a:off x="5293941" y="3017470"/>
            <a:ext cx="150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Broker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5293941" y="3383230"/>
            <a:ext cx="150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6871739" y="2560270"/>
            <a:ext cx="20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072907" y="1965910"/>
            <a:ext cx="1650900" cy="1920300"/>
          </a:xfrm>
          <a:prstGeom prst="roundRect">
            <a:avLst>
              <a:gd fmla="val 4985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7569197" y="2221942"/>
            <a:ext cx="658500" cy="65850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lock.png" id="59" name="Google Shape;5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4785" y="2307530"/>
            <a:ext cx="487192" cy="48719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"/>
          <p:cNvSpPr txBox="1"/>
          <p:nvPr/>
        </p:nvSpPr>
        <p:spPr>
          <a:xfrm>
            <a:off x="7146059" y="3017470"/>
            <a:ext cx="150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NetBird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7146059" y="3383230"/>
            <a:ext cx="150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private overlay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8723856" y="2560270"/>
            <a:ext cx="20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9699498" y="2560320"/>
            <a:ext cx="2011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9024541" y="1965910"/>
            <a:ext cx="1650900" cy="1920300"/>
          </a:xfrm>
          <a:prstGeom prst="roundRect">
            <a:avLst>
              <a:gd fmla="val 4985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9520832" y="2221942"/>
            <a:ext cx="658500" cy="65850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server.png" id="66" name="Google Shape;6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06419" y="2307530"/>
            <a:ext cx="487192" cy="48719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 txBox="1"/>
          <p:nvPr/>
        </p:nvSpPr>
        <p:spPr>
          <a:xfrm>
            <a:off x="9097693" y="3017470"/>
            <a:ext cx="150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GPU Rig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9097693" y="3383230"/>
            <a:ext cx="150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llama-server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40080" y="4434840"/>
            <a:ext cx="10911535" cy="1417320"/>
          </a:xfrm>
          <a:prstGeom prst="roundRect">
            <a:avLst>
              <a:gd fmla="val 5806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960120" y="4617720"/>
            <a:ext cx="1027145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RDS holds durable state — users, sessions, history.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6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Redis holds fast state — worker registry, queues, locks.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02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B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7b7359692d36f557_2_0"/>
          <p:cNvSpPr txBox="1"/>
          <p:nvPr/>
        </p:nvSpPr>
        <p:spPr>
          <a:xfrm>
            <a:off x="640080" y="41148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h7b7359692d36f557_2_0"/>
          <p:cNvSpPr txBox="1"/>
          <p:nvPr/>
        </p:nvSpPr>
        <p:spPr>
          <a:xfrm>
            <a:off x="640080" y="713232"/>
            <a:ext cx="9601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Live, on our own hardware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h7b7359692d36f557_2_0"/>
          <p:cNvSpPr txBox="1"/>
          <p:nvPr/>
        </p:nvSpPr>
        <p:spPr>
          <a:xfrm>
            <a:off x="1249528" y="6313914"/>
            <a:ext cx="9692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Local chat demo — served entirely from the OCS rack, model tag qwen3.8:27b, no external API calls.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h7b7359692d36f557_2_0"/>
          <p:cNvSpPr txBox="1"/>
          <p:nvPr/>
        </p:nvSpPr>
        <p:spPr>
          <a:xfrm>
            <a:off x="9265615" y="640080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03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h7b7359692d36f557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750" y="1632925"/>
            <a:ext cx="9272251" cy="4221300"/>
          </a:xfrm>
          <a:prstGeom prst="rect">
            <a:avLst/>
          </a:prstGeom>
          <a:solidFill>
            <a:srgbClr val="1C202B"/>
          </a:solidFill>
          <a:ln>
            <a:noFill/>
          </a:ln>
        </p:spPr>
      </p:pic>
      <p:sp>
        <p:nvSpPr>
          <p:cNvPr id="82" name="Google Shape;82;h7b7359692d36f557_2_0"/>
          <p:cNvSpPr/>
          <p:nvPr/>
        </p:nvSpPr>
        <p:spPr>
          <a:xfrm>
            <a:off x="1448200" y="2561275"/>
            <a:ext cx="2405700" cy="514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h7b7359692d36f557_2_0"/>
          <p:cNvSpPr/>
          <p:nvPr/>
        </p:nvSpPr>
        <p:spPr>
          <a:xfrm>
            <a:off x="1448200" y="3076075"/>
            <a:ext cx="2405700" cy="514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h7b7359692d36f557_2_0"/>
          <p:cNvSpPr/>
          <p:nvPr/>
        </p:nvSpPr>
        <p:spPr>
          <a:xfrm>
            <a:off x="1448200" y="4640775"/>
            <a:ext cx="2405700" cy="514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h7b7359692d36f557_2_0"/>
          <p:cNvSpPr/>
          <p:nvPr/>
        </p:nvSpPr>
        <p:spPr>
          <a:xfrm>
            <a:off x="1448200" y="3601025"/>
            <a:ext cx="2405700" cy="514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h7b7359692d36f557_2_0"/>
          <p:cNvSpPr/>
          <p:nvPr/>
        </p:nvSpPr>
        <p:spPr>
          <a:xfrm>
            <a:off x="1448200" y="4120900"/>
            <a:ext cx="2405700" cy="514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h7b7359692d36f557_2_0"/>
          <p:cNvSpPr/>
          <p:nvPr/>
        </p:nvSpPr>
        <p:spPr>
          <a:xfrm>
            <a:off x="1448200" y="5165725"/>
            <a:ext cx="2405700" cy="514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MISSION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What we're building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640080" y="141732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 public, authenticated platform that turns a pile of secondhand GPUs into a coding assistant students can reach from anywhere — on infrastructure we own end to end.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40080" y="2788920"/>
            <a:ext cx="3393338" cy="2834640"/>
          </a:xfrm>
          <a:prstGeom prst="roundRect">
            <a:avLst>
              <a:gd fmla="val 290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960120" y="310896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book.png"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330" y="31921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"/>
          <p:cNvSpPr txBox="1"/>
          <p:nvPr/>
        </p:nvSpPr>
        <p:spPr>
          <a:xfrm>
            <a:off x="3210458" y="30632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960120" y="3886200"/>
            <a:ext cx="27532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Free &amp; open-source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960120" y="4434840"/>
            <a:ext cx="275325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Qwen3.8 27B, GGUF-quantized, no subscription cost to students.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399178" y="2788920"/>
            <a:ext cx="3393338" cy="2834640"/>
          </a:xfrm>
          <a:prstGeom prst="roundRect">
            <a:avLst>
              <a:gd fmla="val 290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719218" y="310896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shield-check.png" id="104" name="Google Shape;10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2429" y="31921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/>
        </p:nvSpPr>
        <p:spPr>
          <a:xfrm>
            <a:off x="6969557" y="30632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4719218" y="3886200"/>
            <a:ext cx="27532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Private &amp; secured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4719218" y="4434840"/>
            <a:ext cx="275325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 public endpoint out front, a private NetBird overlay behind it — never direct student access to raw compute.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158277" y="2788920"/>
            <a:ext cx="3393338" cy="2834640"/>
          </a:xfrm>
          <a:prstGeom prst="roundRect">
            <a:avLst>
              <a:gd fmla="val 290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8478317" y="310896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users.png" id="110" name="Google Shape;11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1527" y="31921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/>
        </p:nvSpPr>
        <p:spPr>
          <a:xfrm>
            <a:off x="10728655" y="306324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478317" y="3886200"/>
            <a:ext cx="27532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Built by students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8478317" y="4434840"/>
            <a:ext cx="275325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Every layer — hardware, networking, serving, scheduling — designed, built, and owned by the team.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05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WHY THIS EXISTS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640080" y="141732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students want a real coding assistant — but frontier AI tools cost real money per seat, and a single shared password doesn't scale to a whole class.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40080" y="2788920"/>
            <a:ext cx="3393338" cy="2834640"/>
          </a:xfrm>
          <a:prstGeom prst="roundRect">
            <a:avLst>
              <a:gd fmla="val 290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960120" y="310896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dollar.png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330" y="31921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/>
        </p:nvSpPr>
        <p:spPr>
          <a:xfrm>
            <a:off x="960120" y="3931920"/>
            <a:ext cx="27532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Cost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960120" y="4480560"/>
            <a:ext cx="27532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Per-seat AI subscriptions don't scale to a whole class, let alone a whole district.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399178" y="2788920"/>
            <a:ext cx="3393338" cy="2834640"/>
          </a:xfrm>
          <a:prstGeom prst="roundRect">
            <a:avLst>
              <a:gd fmla="val 290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719218" y="310896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wifi-off.png" id="130" name="Google Shape;1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2429" y="31921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4719218" y="3931920"/>
            <a:ext cx="27532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Network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4719218" y="4480560"/>
            <a:ext cx="27532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The district network actively fingerprints and blocks the obvious ways to expose a server to the internet.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8158277" y="2788920"/>
            <a:ext cx="3393338" cy="2834640"/>
          </a:xfrm>
          <a:prstGeom prst="roundRect">
            <a:avLst>
              <a:gd fmla="val 290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8478317" y="310896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cpu.png" id="135" name="Google Shape;1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1527" y="31921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 txBox="1"/>
          <p:nvPr/>
        </p:nvSpPr>
        <p:spPr>
          <a:xfrm>
            <a:off x="8478317" y="3931920"/>
            <a:ext cx="275325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Hardware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8478317" y="4480560"/>
            <a:ext cx="2753258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We're running old, secondhand GPUs — real constraints, not a modern datacenter stack.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06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ARCHITECTURE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Control plane vs. compute plane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40080" y="1691640"/>
            <a:ext cx="5272888" cy="4160520"/>
          </a:xfrm>
          <a:prstGeom prst="roundRect">
            <a:avLst>
              <a:gd fmla="val 1978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960120" y="1965960"/>
            <a:ext cx="4632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CONTROL PLANE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960120" y="2286000"/>
            <a:ext cx="4632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Decides what happens, where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960120" y="2834640"/>
            <a:ext cx="463280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Users, roles, authentication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Public API (FastAPI + NGINX)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Broker / scheduler logic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RDS — durable state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Redis — live worker &amp; queue state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278728" y="1691640"/>
            <a:ext cx="5272888" cy="4160520"/>
          </a:xfrm>
          <a:prstGeom prst="roundRect">
            <a:avLst>
              <a:gd fmla="val 1978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6598768" y="1965960"/>
            <a:ext cx="4632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COMPUTE PLANE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6598768" y="2286000"/>
            <a:ext cx="4632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Actually does the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6598768" y="2834640"/>
            <a:ext cx="4632808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GPU Rig 1 — production inference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GPU Rig 2 — development &amp; test inference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llama.cpp / llama-server </a:t>
            </a:r>
            <a:r>
              <a:rPr lang="en-US" sz="1300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systemd services </a:t>
            </a: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on each rig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Students never touch the compute plane directly — every request is mediated by the broker over a private network.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07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DATA DESIGN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Three kinds of state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640080" y="141732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Client </a:t>
            </a:r>
            <a:r>
              <a:rPr b="0" i="0" lang="en-US" sz="14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should never be the only machine that knows a student's permanent history — so we split state by how long it needs to live.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640080" y="2423160"/>
            <a:ext cx="10911535" cy="1188720"/>
          </a:xfrm>
          <a:prstGeom prst="roundRect">
            <a:avLst>
              <a:gd fmla="val 692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896112" y="269748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database.png"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322" y="27806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 txBox="1"/>
          <p:nvPr/>
        </p:nvSpPr>
        <p:spPr>
          <a:xfrm>
            <a:off x="1737360" y="25877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Durable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1737360" y="301752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08090B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 txBox="1"/>
          <p:nvPr/>
        </p:nvSpPr>
        <p:spPr>
          <a:xfrm>
            <a:off x="1737360" y="30175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3657600" y="2624328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Users, sessions, history, project refs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 txBox="1"/>
          <p:nvPr/>
        </p:nvSpPr>
        <p:spPr>
          <a:xfrm>
            <a:off x="8046720" y="2624328"/>
            <a:ext cx="323057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Must survive restarts &amp; machine failure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40080" y="3794760"/>
            <a:ext cx="10911535" cy="1188720"/>
          </a:xfrm>
          <a:prstGeom prst="roundRect">
            <a:avLst>
              <a:gd fmla="val 692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896112" y="406908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zap.png" id="174" name="Google Shape;17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9322" y="41522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6"/>
          <p:cNvSpPr txBox="1"/>
          <p:nvPr/>
        </p:nvSpPr>
        <p:spPr>
          <a:xfrm>
            <a:off x="1737360" y="39593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Fast / live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737360" y="438912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08090B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1737360" y="43891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3657600" y="3995928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Worker registry, job queue, locks, availability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8046720" y="3995928"/>
            <a:ext cx="323057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Needs very fast reads/writes, changes constantly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40080" y="5166360"/>
            <a:ext cx="10911535" cy="1188720"/>
          </a:xfrm>
          <a:prstGeom prst="roundRect">
            <a:avLst>
              <a:gd fmla="val 692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896112" y="544068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cpu.png" id="182" name="Google Shape;18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9322" y="55238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 txBox="1"/>
          <p:nvPr/>
        </p:nvSpPr>
        <p:spPr>
          <a:xfrm>
            <a:off x="1737360" y="53309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Working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737360" y="576072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08090B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1737360" y="576072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GPU Rigs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3657600" y="5367528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Context, recent files, temp cache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8046720" y="5367528"/>
            <a:ext cx="323057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Useful while active, disposable &amp; rebuildable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08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CONNECTIVITY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Three tools, two dead ends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640080" y="141732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The district network doesn't block “servers” — it fingerprints known tunneling products. Every tool below was tried against this exact network.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40080" y="2514600"/>
            <a:ext cx="3393338" cy="3200400"/>
          </a:xfrm>
          <a:prstGeom prst="roundRect">
            <a:avLst>
              <a:gd fmla="val 2571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932688" y="2807208"/>
            <a:ext cx="566928" cy="566928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check-circle.png" id="199" name="Google Shape;1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6389" y="288090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/>
          <p:nvPr/>
        </p:nvSpPr>
        <p:spPr>
          <a:xfrm>
            <a:off x="2616098" y="2880360"/>
            <a:ext cx="1143000" cy="365760"/>
          </a:xfrm>
          <a:prstGeom prst="roundRect">
            <a:avLst>
              <a:gd fmla="val 50000" name="adj"/>
            </a:avLst>
          </a:prstGeom>
          <a:solidFill>
            <a:srgbClr val="23180D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2616098" y="2880360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LIVE TODAY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 txBox="1"/>
          <p:nvPr/>
        </p:nvSpPr>
        <p:spPr>
          <a:xfrm>
            <a:off x="932688" y="3566160"/>
            <a:ext cx="28081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NetBird + AWS relay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932688" y="4069080"/>
            <a:ext cx="280812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Already running for SSH access before this ever started — not a recognized tunneling signature to the network's filtering.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399178" y="2514600"/>
            <a:ext cx="3393338" cy="3200400"/>
          </a:xfrm>
          <a:prstGeom prst="roundRect">
            <a:avLst>
              <a:gd fmla="val 2571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4691786" y="2807208"/>
            <a:ext cx="566928" cy="566928"/>
          </a:xfrm>
          <a:prstGeom prst="ellipse">
            <a:avLst/>
          </a:prstGeom>
          <a:solidFill>
            <a:srgbClr val="3A3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x-circle.png" id="206" name="Google Shape;20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5487" y="288090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/>
          <p:nvPr/>
        </p:nvSpPr>
        <p:spPr>
          <a:xfrm>
            <a:off x="6375197" y="2880360"/>
            <a:ext cx="1143000" cy="365760"/>
          </a:xfrm>
          <a:prstGeom prst="roundRect">
            <a:avLst>
              <a:gd fmla="val 50000" name="adj"/>
            </a:avLst>
          </a:prstGeom>
          <a:solidFill>
            <a:srgbClr val="1A1C22"/>
          </a:solidFill>
          <a:ln cap="flat" cmpd="sng" w="12700">
            <a:solidFill>
              <a:srgbClr val="5558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6375197" y="2880360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ABANDONED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4691786" y="3566160"/>
            <a:ext cx="28081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Cloudflare Tunnel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4691786" y="4069080"/>
            <a:ext cx="280812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Outbound port 7844 blocked network-wide, both TCP and UDP. Not configurable from our side.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8158277" y="2514600"/>
            <a:ext cx="3393338" cy="3200400"/>
          </a:xfrm>
          <a:prstGeom prst="roundRect">
            <a:avLst>
              <a:gd fmla="val 2571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8450885" y="2807208"/>
            <a:ext cx="566928" cy="566928"/>
          </a:xfrm>
          <a:prstGeom prst="ellipse">
            <a:avLst/>
          </a:prstGeom>
          <a:solidFill>
            <a:srgbClr val="3A3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x-circle.png" id="213" name="Google Shape;21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4585" y="2880909"/>
            <a:ext cx="419527" cy="41952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/>
          <p:nvPr/>
        </p:nvSpPr>
        <p:spPr>
          <a:xfrm>
            <a:off x="10134295" y="2880360"/>
            <a:ext cx="1143000" cy="365760"/>
          </a:xfrm>
          <a:prstGeom prst="roundRect">
            <a:avLst>
              <a:gd fmla="val 50000" name="adj"/>
            </a:avLst>
          </a:prstGeom>
          <a:solidFill>
            <a:srgbClr val="1A1C22"/>
          </a:solidFill>
          <a:ln cap="flat" cmpd="sng" w="12700">
            <a:solidFill>
              <a:srgbClr val="5558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10134295" y="2880360"/>
            <a:ext cx="1143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ABANDONED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8450885" y="3566160"/>
            <a:ext cx="280812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ngrok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8450885" y="4069080"/>
            <a:ext cx="280812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DNS sinkholed, then a CRL check blocked on port 80, then Ollama itself 403'd on the Host header. Three stacked failures.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10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“It doesn't work” is a starting point, not a diagnosis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640080" y="155448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Every dead end looked like the same symptom — a failed connection — until we isolated which layer actually owned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" name="Google Shape;227;p8"/>
          <p:cNvGraphicFramePr/>
          <p:nvPr/>
        </p:nvGraphicFramePr>
        <p:xfrm>
          <a:off x="640080" y="25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{507BB346-DABF-43D8-A5E1-1A7FE76E6F4E}</a:tableStyleId>
              </a:tblPr>
              <a:tblGrid>
                <a:gridCol w="3291850"/>
                <a:gridCol w="3749050"/>
                <a:gridCol w="387065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090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809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Symptom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7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090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809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7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090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809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Root cause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7A3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Connection times out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Connectivity pre-check per port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Port-level block (7844)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Connects, wrong server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 against an outside resolver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DNS sinkholing of tunnel hostnames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 server responds with an error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curl with an explicit Host header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Ollama's DNS-rebinding protection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8"/>
          <p:cNvSpPr/>
          <p:nvPr/>
        </p:nvSpPr>
        <p:spPr>
          <a:xfrm>
            <a:off x="640080" y="4892040"/>
            <a:ext cx="10911535" cy="1234440"/>
          </a:xfrm>
          <a:prstGeom prst="roundRect">
            <a:avLst>
              <a:gd fmla="val 6667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914400" y="5029200"/>
            <a:ext cx="10362895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The insight: </a:t>
            </a: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fix at the layer that actually owns the failure. NetBird worked because it was already crossing this network for SSH — it never triggered the fingerprint that caught the other two.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11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9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CURRENT STATE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What's actually live right now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40080" y="1920240"/>
            <a:ext cx="1977481" cy="2103120"/>
          </a:xfrm>
          <a:prstGeom prst="roundRect">
            <a:avLst>
              <a:gd fmla="val 4162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1281349" y="2194560"/>
            <a:ext cx="694944" cy="694944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users.png" id="240" name="Google Shape;2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91" y="2284903"/>
            <a:ext cx="514259" cy="51425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9"/>
          <p:cNvSpPr txBox="1"/>
          <p:nvPr/>
        </p:nvSpPr>
        <p:spPr>
          <a:xfrm>
            <a:off x="694944" y="3017520"/>
            <a:ext cx="186775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OCS Students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694944" y="3429000"/>
            <a:ext cx="186775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2617561" y="256032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2873593" y="1920240"/>
            <a:ext cx="1977481" cy="2103120"/>
          </a:xfrm>
          <a:prstGeom prst="roundRect">
            <a:avLst>
              <a:gd fmla="val 4162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3514862" y="2194560"/>
            <a:ext cx="694944" cy="694944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globe.png" id="246" name="Google Shape;24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5205" y="2284903"/>
            <a:ext cx="514259" cy="51425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 txBox="1"/>
          <p:nvPr/>
        </p:nvSpPr>
        <p:spPr>
          <a:xfrm>
            <a:off x="2928457" y="3017520"/>
            <a:ext cx="186775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AWS EC2 Relay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2928457" y="3429000"/>
            <a:ext cx="186775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NGINX + TLS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4851075" y="256032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107107" y="1920240"/>
            <a:ext cx="1977481" cy="2103120"/>
          </a:xfrm>
          <a:prstGeom prst="roundRect">
            <a:avLst>
              <a:gd fmla="val 4162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5748376" y="2194560"/>
            <a:ext cx="694944" cy="694944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lock.png" id="252" name="Google Shape;25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38718" y="2284903"/>
            <a:ext cx="514259" cy="51425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9"/>
          <p:cNvSpPr txBox="1"/>
          <p:nvPr/>
        </p:nvSpPr>
        <p:spPr>
          <a:xfrm>
            <a:off x="5161971" y="3017520"/>
            <a:ext cx="186775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NetBird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 txBox="1"/>
          <p:nvPr/>
        </p:nvSpPr>
        <p:spPr>
          <a:xfrm>
            <a:off x="5161971" y="3429000"/>
            <a:ext cx="186775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private link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7084588" y="256032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7340620" y="1920240"/>
            <a:ext cx="1977481" cy="2103120"/>
          </a:xfrm>
          <a:prstGeom prst="roundRect">
            <a:avLst>
              <a:gd fmla="val 4162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7981889" y="2194560"/>
            <a:ext cx="694944" cy="694944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monitor.png" id="258" name="Google Shape;25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2232" y="2284903"/>
            <a:ext cx="514259" cy="51425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 txBox="1"/>
          <p:nvPr/>
        </p:nvSpPr>
        <p:spPr>
          <a:xfrm>
            <a:off x="7395484" y="3017520"/>
            <a:ext cx="186775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Open WebUI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7395484" y="3429000"/>
            <a:ext cx="186775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(Docker) → Ollama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9318102" y="2560320"/>
            <a:ext cx="256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9574134" y="1920240"/>
            <a:ext cx="1977481" cy="2103120"/>
          </a:xfrm>
          <a:prstGeom prst="roundRect">
            <a:avLst>
              <a:gd fmla="val 4162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10215402" y="2194560"/>
            <a:ext cx="694944" cy="694944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server.png" id="264" name="Google Shape;26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05745" y="2284903"/>
            <a:ext cx="514259" cy="51425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9"/>
          <p:cNvSpPr txBox="1"/>
          <p:nvPr/>
        </p:nvSpPr>
        <p:spPr>
          <a:xfrm>
            <a:off x="9628998" y="3017520"/>
            <a:ext cx="186775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8× GTX 1070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9628998" y="3429000"/>
            <a:ext cx="1867753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Qwen3.8 27B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40080" y="4343400"/>
            <a:ext cx="10911535" cy="1508760"/>
          </a:xfrm>
          <a:prstGeom prst="roundRect">
            <a:avLst>
              <a:gd fmla="val 5455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 txBox="1"/>
          <p:nvPr/>
        </p:nvSpPr>
        <p:spPr>
          <a:xfrm>
            <a:off x="960120" y="4526280"/>
            <a:ext cx="10271455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Model: Qwen3.8 27B, GGUF Q4_K_M — sized for Pascal-era compute.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Lesson learned: a container's localhost is not the host's localhost — fixed with host.docker.internal.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12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Demo — talk to our model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40080" y="2011680"/>
            <a:ext cx="3393338" cy="3108960"/>
          </a:xfrm>
          <a:prstGeom prst="roundRect">
            <a:avLst>
              <a:gd fmla="val 2647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960120" y="2331720"/>
            <a:ext cx="621792" cy="621792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monitor.png" id="279" name="Google Shape;2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953" y="2412553"/>
            <a:ext cx="460126" cy="460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0"/>
          <p:cNvSpPr txBox="1"/>
          <p:nvPr/>
        </p:nvSpPr>
        <p:spPr>
          <a:xfrm>
            <a:off x="960120" y="3108960"/>
            <a:ext cx="275325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WHAT STUDENTS SEE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960120" y="3474720"/>
            <a:ext cx="275325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 normal chat UI, model picker, streaming replies — no card, no login wall to a paid provider.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4399178" y="2011680"/>
            <a:ext cx="3393338" cy="3108960"/>
          </a:xfrm>
          <a:prstGeom prst="roundRect">
            <a:avLst>
              <a:gd fmla="val 2647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4719218" y="2331720"/>
            <a:ext cx="621792" cy="621792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dollar.png" id="284" name="Google Shape;28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051" y="2412553"/>
            <a:ext cx="460126" cy="460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0"/>
          <p:cNvSpPr txBox="1"/>
          <p:nvPr/>
        </p:nvSpPr>
        <p:spPr>
          <a:xfrm>
            <a:off x="4719218" y="3108960"/>
            <a:ext cx="275325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WHAT'S BEHIND 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4719218" y="3474720"/>
            <a:ext cx="275325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Zero paid API calls. Every token is generated on hardware sitting in our own room.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8158277" y="2011680"/>
            <a:ext cx="3393338" cy="3108960"/>
          </a:xfrm>
          <a:prstGeom prst="roundRect">
            <a:avLst>
              <a:gd fmla="val 2647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8478317" y="2331720"/>
            <a:ext cx="621792" cy="621792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arrow-right.png" id="289" name="Google Shape;28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59150" y="2412553"/>
            <a:ext cx="460126" cy="460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0"/>
          <p:cNvSpPr txBox="1"/>
          <p:nvPr/>
        </p:nvSpPr>
        <p:spPr>
          <a:xfrm>
            <a:off x="8478317" y="3108960"/>
            <a:ext cx="275325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WHERE IT'S GOING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 txBox="1"/>
          <p:nvPr/>
        </p:nvSpPr>
        <p:spPr>
          <a:xfrm>
            <a:off x="8478317" y="3474720"/>
            <a:ext cx="275325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Same request path, routed through our own broker and scheduler instead of talking to Ollama directly.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13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B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Live, on our own hardware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139800" y="1399032"/>
            <a:ext cx="9912096" cy="4796010"/>
          </a:xfrm>
          <a:prstGeom prst="roundRect">
            <a:avLst>
              <a:gd fmla="val 1144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unpacked_orig/ppt/media/image1.png" id="301" name="Google Shape;3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9528" y="1508760"/>
            <a:ext cx="9692640" cy="4576554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1"/>
          <p:cNvSpPr txBox="1"/>
          <p:nvPr/>
        </p:nvSpPr>
        <p:spPr>
          <a:xfrm>
            <a:off x="1249528" y="6313914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Local chat demo — served entirely from the OCS rack, model tag qwen3.8:27b, no external API calls.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14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B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h7b7359692d36f557_3_4"/>
          <p:cNvSpPr txBox="1"/>
          <p:nvPr/>
        </p:nvSpPr>
        <p:spPr>
          <a:xfrm>
            <a:off x="640080" y="41148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h7b7359692d36f557_3_4"/>
          <p:cNvSpPr txBox="1"/>
          <p:nvPr/>
        </p:nvSpPr>
        <p:spPr>
          <a:xfrm>
            <a:off x="640080" y="713232"/>
            <a:ext cx="9601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Live, on our own hardware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h7b7359692d36f557_3_4"/>
          <p:cNvSpPr txBox="1"/>
          <p:nvPr/>
        </p:nvSpPr>
        <p:spPr>
          <a:xfrm>
            <a:off x="1249528" y="6313914"/>
            <a:ext cx="9692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Local chat demo — served entirely from the OCS rack, model tag qwen3.8:27b, no external API calls.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h7b7359692d36f557_3_4"/>
          <p:cNvSpPr txBox="1"/>
          <p:nvPr/>
        </p:nvSpPr>
        <p:spPr>
          <a:xfrm>
            <a:off x="9265615" y="640080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15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h7b7359692d36f557_3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8900" y="1652932"/>
            <a:ext cx="5333941" cy="4472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The hardware: two rigs, sixteen Pascal-era cards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 txBox="1"/>
          <p:nvPr/>
        </p:nvSpPr>
        <p:spPr>
          <a:xfrm>
            <a:off x="640080" y="1481328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Why this matters: GTX 1070 is Pascal-generation. We can't assume a modern CUDA build or serving stack works cleanly — every layer of the runtime is its own research question.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40080" y="2514600"/>
            <a:ext cx="5272888" cy="1737360"/>
          </a:xfrm>
          <a:prstGeom prst="roundRect">
            <a:avLst>
              <a:gd fmla="val 4737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960120" y="2834640"/>
            <a:ext cx="594360" cy="59436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server.png" id="324" name="Google Shape;32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387" y="291190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2"/>
          <p:cNvSpPr txBox="1"/>
          <p:nvPr/>
        </p:nvSpPr>
        <p:spPr>
          <a:xfrm>
            <a:off x="4541368" y="2788920"/>
            <a:ext cx="1051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8×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960120" y="3474720"/>
            <a:ext cx="4632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Rig 1 — Production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960120" y="3813048"/>
            <a:ext cx="4632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GTX 1070, serving student traffic today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6278728" y="2514600"/>
            <a:ext cx="5272888" cy="1737360"/>
          </a:xfrm>
          <a:prstGeom prst="roundRect">
            <a:avLst>
              <a:gd fmla="val 4737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6598768" y="2834640"/>
            <a:ext cx="594360" cy="59436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server.png" id="330" name="Google Shape;33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6034" y="291190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2"/>
          <p:cNvSpPr txBox="1"/>
          <p:nvPr/>
        </p:nvSpPr>
        <p:spPr>
          <a:xfrm>
            <a:off x="10180015" y="2788920"/>
            <a:ext cx="1051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8×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 txBox="1"/>
          <p:nvPr/>
        </p:nvSpPr>
        <p:spPr>
          <a:xfrm>
            <a:off x="6598768" y="3474720"/>
            <a:ext cx="46328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Rig 2 — Dev &amp; Test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 txBox="1"/>
          <p:nvPr/>
        </p:nvSpPr>
        <p:spPr>
          <a:xfrm>
            <a:off x="6598768" y="3813048"/>
            <a:ext cx="4632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GTX 1070, built from secondhand parts for scheduler &amp; model testing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640080" y="4526280"/>
            <a:ext cx="3393338" cy="914400"/>
          </a:xfrm>
          <a:prstGeom prst="roundRect">
            <a:avLst>
              <a:gd fmla="val 9000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 txBox="1"/>
          <p:nvPr/>
        </p:nvSpPr>
        <p:spPr>
          <a:xfrm>
            <a:off x="868680" y="4526280"/>
            <a:ext cx="29361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8 GB VRAM per card — caps model size &amp; quantization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4399178" y="4526280"/>
            <a:ext cx="3393338" cy="914400"/>
          </a:xfrm>
          <a:prstGeom prst="roundRect">
            <a:avLst>
              <a:gd fmla="val 9000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 txBox="1"/>
          <p:nvPr/>
        </p:nvSpPr>
        <p:spPr>
          <a:xfrm>
            <a:off x="4627778" y="4526280"/>
            <a:ext cx="29361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No NVLink — cross-GPU splits run over PCIe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8158277" y="4526280"/>
            <a:ext cx="3393338" cy="914400"/>
          </a:xfrm>
          <a:prstGeom prst="roundRect">
            <a:avLst>
              <a:gd fmla="val 9000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2"/>
          <p:cNvSpPr txBox="1"/>
          <p:nvPr/>
        </p:nvSpPr>
        <p:spPr>
          <a:xfrm>
            <a:off x="8386877" y="4526280"/>
            <a:ext cx="293613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Used parts — no ground truth, every card proven individually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16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REBUILD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Building Rig 2 from used parts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640080" y="1874520"/>
            <a:ext cx="1992112" cy="1874520"/>
          </a:xfrm>
          <a:prstGeom prst="roundRect">
            <a:avLst>
              <a:gd fmla="val 4390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 txBox="1"/>
          <p:nvPr/>
        </p:nvSpPr>
        <p:spPr>
          <a:xfrm>
            <a:off x="804672" y="19842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1325240" y="2377440"/>
            <a:ext cx="621792" cy="621792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search.png" id="351" name="Google Shape;35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073" y="2458273"/>
            <a:ext cx="460126" cy="460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3"/>
          <p:cNvSpPr txBox="1"/>
          <p:nvPr/>
        </p:nvSpPr>
        <p:spPr>
          <a:xfrm>
            <a:off x="713232" y="3136392"/>
            <a:ext cx="184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Clean &amp; inspect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 txBox="1"/>
          <p:nvPr/>
        </p:nvSpPr>
        <p:spPr>
          <a:xfrm>
            <a:off x="713232" y="3392424"/>
            <a:ext cx="184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every part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 txBox="1"/>
          <p:nvPr/>
        </p:nvSpPr>
        <p:spPr>
          <a:xfrm>
            <a:off x="2632192" y="2532888"/>
            <a:ext cx="237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2869936" y="1874520"/>
            <a:ext cx="1992112" cy="1874520"/>
          </a:xfrm>
          <a:prstGeom prst="roundRect">
            <a:avLst>
              <a:gd fmla="val 4390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 txBox="1"/>
          <p:nvPr/>
        </p:nvSpPr>
        <p:spPr>
          <a:xfrm>
            <a:off x="3034528" y="19842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3555096" y="2377440"/>
            <a:ext cx="621792" cy="621792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box.png" id="358" name="Google Shape;3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5929" y="2458273"/>
            <a:ext cx="460126" cy="460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 txBox="1"/>
          <p:nvPr/>
        </p:nvSpPr>
        <p:spPr>
          <a:xfrm>
            <a:off x="2943088" y="3136392"/>
            <a:ext cx="184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Assemble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2943088" y="3392424"/>
            <a:ext cx="184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chassis + GPUs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4862048" y="2532888"/>
            <a:ext cx="237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5099792" y="1874520"/>
            <a:ext cx="1992112" cy="1874520"/>
          </a:xfrm>
          <a:prstGeom prst="roundRect">
            <a:avLst>
              <a:gd fmla="val 4390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 txBox="1"/>
          <p:nvPr/>
        </p:nvSpPr>
        <p:spPr>
          <a:xfrm>
            <a:off x="5264384" y="19842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5784952" y="2377440"/>
            <a:ext cx="621792" cy="621792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power.png" id="365" name="Google Shape;36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5785" y="2458273"/>
            <a:ext cx="460126" cy="460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3"/>
          <p:cNvSpPr txBox="1"/>
          <p:nvPr/>
        </p:nvSpPr>
        <p:spPr>
          <a:xfrm>
            <a:off x="5172944" y="3136392"/>
            <a:ext cx="184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Power on &amp;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 txBox="1"/>
          <p:nvPr/>
        </p:nvSpPr>
        <p:spPr>
          <a:xfrm>
            <a:off x="5172944" y="3392424"/>
            <a:ext cx="184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troubleshoot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 txBox="1"/>
          <p:nvPr/>
        </p:nvSpPr>
        <p:spPr>
          <a:xfrm>
            <a:off x="7091904" y="2532888"/>
            <a:ext cx="237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7329648" y="1874520"/>
            <a:ext cx="1992112" cy="1874520"/>
          </a:xfrm>
          <a:prstGeom prst="roundRect">
            <a:avLst>
              <a:gd fmla="val 4390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3"/>
          <p:cNvSpPr txBox="1"/>
          <p:nvPr/>
        </p:nvSpPr>
        <p:spPr>
          <a:xfrm>
            <a:off x="7494240" y="19842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8014807" y="2377440"/>
            <a:ext cx="621792" cy="621792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shield-check.png" id="372" name="Google Shape;37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5640" y="2458273"/>
            <a:ext cx="460126" cy="460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3"/>
          <p:cNvSpPr txBox="1"/>
          <p:nvPr/>
        </p:nvSpPr>
        <p:spPr>
          <a:xfrm>
            <a:off x="7402800" y="3136392"/>
            <a:ext cx="184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Verify all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 txBox="1"/>
          <p:nvPr/>
        </p:nvSpPr>
        <p:spPr>
          <a:xfrm>
            <a:off x="7402800" y="3392424"/>
            <a:ext cx="184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8 GPUs stable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 txBox="1"/>
          <p:nvPr/>
        </p:nvSpPr>
        <p:spPr>
          <a:xfrm>
            <a:off x="9321759" y="2532888"/>
            <a:ext cx="2377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9559503" y="1874520"/>
            <a:ext cx="1992112" cy="1874520"/>
          </a:xfrm>
          <a:prstGeom prst="roundRect">
            <a:avLst>
              <a:gd fmla="val 4390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"/>
          <p:cNvSpPr txBox="1"/>
          <p:nvPr/>
        </p:nvSpPr>
        <p:spPr>
          <a:xfrm>
            <a:off x="9724095" y="19842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3"/>
          <p:cNvSpPr/>
          <p:nvPr/>
        </p:nvSpPr>
        <p:spPr>
          <a:xfrm>
            <a:off x="10244663" y="2377440"/>
            <a:ext cx="621792" cy="621792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download-cloud.png" id="379" name="Google Shape;37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25496" y="2458273"/>
            <a:ext cx="460126" cy="460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3"/>
          <p:cNvSpPr txBox="1"/>
          <p:nvPr/>
        </p:nvSpPr>
        <p:spPr>
          <a:xfrm>
            <a:off x="9632655" y="3136392"/>
            <a:ext cx="184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Install serving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 txBox="1"/>
          <p:nvPr/>
        </p:nvSpPr>
        <p:spPr>
          <a:xfrm>
            <a:off x="9632655" y="3392424"/>
            <a:ext cx="1845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640080" y="4114800"/>
            <a:ext cx="5272888" cy="1965960"/>
          </a:xfrm>
          <a:prstGeom prst="roundRect">
            <a:avLst>
              <a:gd fmla="val 4186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"/>
          <p:cNvSpPr txBox="1"/>
          <p:nvPr/>
        </p:nvSpPr>
        <p:spPr>
          <a:xfrm>
            <a:off x="914400" y="4343400"/>
            <a:ext cx="4724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Used hardware has no ground truth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 txBox="1"/>
          <p:nvPr/>
        </p:nvSpPr>
        <p:spPr>
          <a:xfrm>
            <a:off x="914400" y="4800600"/>
            <a:ext cx="47242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 card that looks fine can have dried thermal paste and throttle under load. The test isn't “does it fit” — it's whether it survives sustained load and stays enumerated.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6278728" y="4114800"/>
            <a:ext cx="5272888" cy="1965960"/>
          </a:xfrm>
          <a:prstGeom prst="roundRect">
            <a:avLst>
              <a:gd fmla="val 4186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 txBox="1"/>
          <p:nvPr/>
        </p:nvSpPr>
        <p:spPr>
          <a:xfrm>
            <a:off x="6553048" y="4343400"/>
            <a:ext cx="47242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Eight cards is a power problem first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 txBox="1"/>
          <p:nvPr/>
        </p:nvSpPr>
        <p:spPr>
          <a:xfrm>
            <a:off x="6553048" y="4800600"/>
            <a:ext cx="47242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Rail distribution, riser quality, connector ratings, and wall draw — a rig can be assembled perfectly and still fail under full load.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17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MODEL DECISION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Picking the model: we pushed back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640080" y="1691640"/>
            <a:ext cx="5272888" cy="3017520"/>
          </a:xfrm>
          <a:prstGeom prst="roundRect">
            <a:avLst>
              <a:gd fmla="val 2727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914400" y="1965960"/>
            <a:ext cx="1737360" cy="384048"/>
          </a:xfrm>
          <a:prstGeom prst="roundRect">
            <a:avLst>
              <a:gd fmla="val 50000" name="adj"/>
            </a:avLst>
          </a:prstGeom>
          <a:solidFill>
            <a:srgbClr val="1A1C22"/>
          </a:solidFill>
          <a:ln cap="flat" cmpd="sng" w="12700">
            <a:solidFill>
              <a:srgbClr val="5558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 txBox="1"/>
          <p:nvPr/>
        </p:nvSpPr>
        <p:spPr>
          <a:xfrm>
            <a:off x="914400" y="196596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PROPOSED v1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 txBox="1"/>
          <p:nvPr/>
        </p:nvSpPr>
        <p:spPr>
          <a:xfrm>
            <a:off x="914400" y="2468880"/>
            <a:ext cx="4724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One small model per GPU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 txBox="1"/>
          <p:nvPr/>
        </p:nvSpPr>
        <p:spPr>
          <a:xfrm>
            <a:off x="914400" y="2971800"/>
            <a:ext cx="47242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Qwen 7–8B, Llama 8B, Phi, DeepSeek 7B — one full copy per card.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 txBox="1"/>
          <p:nvPr/>
        </p:nvSpPr>
        <p:spPr>
          <a:xfrm>
            <a:off x="914400" y="3749040"/>
            <a:ext cx="47242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Our call: </a:t>
            </a: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too weak for real coding-agent work and heavier assignments.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6278728" y="1691640"/>
            <a:ext cx="5272888" cy="3017520"/>
          </a:xfrm>
          <a:prstGeom prst="roundRect">
            <a:avLst>
              <a:gd fmla="val 2727" name="adj"/>
            </a:avLst>
          </a:prstGeom>
          <a:solidFill>
            <a:srgbClr val="0F1116"/>
          </a:solidFill>
          <a:ln cap="flat" cmpd="sng" w="9525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4"/>
          <p:cNvSpPr/>
          <p:nvPr/>
        </p:nvSpPr>
        <p:spPr>
          <a:xfrm>
            <a:off x="6553048" y="1965960"/>
            <a:ext cx="2468880" cy="384048"/>
          </a:xfrm>
          <a:prstGeom prst="roundRect">
            <a:avLst>
              <a:gd fmla="val 50000" name="adj"/>
            </a:avLst>
          </a:prstGeom>
          <a:solidFill>
            <a:srgbClr val="23180D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4"/>
          <p:cNvSpPr txBox="1"/>
          <p:nvPr/>
        </p:nvSpPr>
        <p:spPr>
          <a:xfrm>
            <a:off x="6553048" y="196596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WHAT WE'RE BUILDING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 txBox="1"/>
          <p:nvPr/>
        </p:nvSpPr>
        <p:spPr>
          <a:xfrm>
            <a:off x="6553048" y="2468880"/>
            <a:ext cx="4724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Fewer, larger, sharded replicas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 txBox="1"/>
          <p:nvPr/>
        </p:nvSpPr>
        <p:spPr>
          <a:xfrm>
            <a:off x="6553048" y="2971800"/>
            <a:ext cx="47242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Qwen3.8-27B class, split across multiple GPUs per replica instead of one small copy per card.</a:t>
            </a:r>
            <a:endParaRPr b="0" i="0" sz="1200" u="none" cap="none" strike="noStrike">
              <a:solidFill>
                <a:srgbClr val="EFDFC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Also split gemma4 12b or a4b on a single card</a:t>
            </a:r>
            <a:endParaRPr sz="1200">
              <a:solidFill>
                <a:srgbClr val="EFDFC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 txBox="1"/>
          <p:nvPr/>
        </p:nvSpPr>
        <p:spPr>
          <a:xfrm>
            <a:off x="6553048" y="3749040"/>
            <a:ext cx="472424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Trade-off flagged: </a:t>
            </a: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the 1070s have no NVLink, so the tensor split runs over PCIe via ASUS B250 Mining Motherboard.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 txBox="1"/>
          <p:nvPr/>
        </p:nvSpPr>
        <p:spPr>
          <a:xfrm>
            <a:off x="640080" y="4892040"/>
            <a:ext cx="1091153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Selection isn't arbitrary — candidate models get a head-to-head bake-off under identical conditions before we commit to a winner and a fallback.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18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5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Poor metrics aren't failures — they're diagnostics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640080" y="1965960"/>
            <a:ext cx="3393338" cy="2286000"/>
          </a:xfrm>
          <a:prstGeom prst="roundRect">
            <a:avLst>
              <a:gd fmla="val 3600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"/>
          <p:cNvSpPr txBox="1"/>
          <p:nvPr/>
        </p:nvSpPr>
        <p:spPr>
          <a:xfrm>
            <a:off x="914400" y="2240280"/>
            <a:ext cx="28446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CURRENT → TARGET TPS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914400" y="2606040"/>
            <a:ext cx="284469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~12 → 60+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914400" y="3474720"/>
            <a:ext cx="284469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GPU compute is not yet fully utilized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4399178" y="1965960"/>
            <a:ext cx="3393338" cy="2286000"/>
          </a:xfrm>
          <a:prstGeom prst="roundRect">
            <a:avLst>
              <a:gd fmla="val 3600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 txBox="1"/>
          <p:nvPr/>
        </p:nvSpPr>
        <p:spPr>
          <a:xfrm>
            <a:off x="4673498" y="2240280"/>
            <a:ext cx="28446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COLD START TTFT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4673498" y="2606040"/>
            <a:ext cx="284469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2m 27s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4673498" y="3474720"/>
            <a:ext cx="284469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model loading dominates the first response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8158277" y="1965960"/>
            <a:ext cx="3393338" cy="2286000"/>
          </a:xfrm>
          <a:prstGeom prst="roundRect">
            <a:avLst>
              <a:gd fmla="val 3600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"/>
          <p:cNvSpPr txBox="1"/>
          <p:nvPr/>
        </p:nvSpPr>
        <p:spPr>
          <a:xfrm>
            <a:off x="8432597" y="2240280"/>
            <a:ext cx="28446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WARM START TTFT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 txBox="1"/>
          <p:nvPr/>
        </p:nvSpPr>
        <p:spPr>
          <a:xfrm>
            <a:off x="8432597" y="2606040"/>
            <a:ext cx="2844698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2s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 txBox="1"/>
          <p:nvPr/>
        </p:nvSpPr>
        <p:spPr>
          <a:xfrm>
            <a:off x="8432597" y="3474720"/>
            <a:ext cx="284469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 75× difference once the model is loaded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640080" y="4526280"/>
            <a:ext cx="10911535" cy="914400"/>
          </a:xfrm>
          <a:prstGeom prst="roundRect">
            <a:avLst>
              <a:gd fmla="val 9000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"/>
          <p:cNvSpPr txBox="1"/>
          <p:nvPr/>
        </p:nvSpPr>
        <p:spPr>
          <a:xfrm>
            <a:off x="914400" y="452628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The methodology: </a:t>
            </a:r>
            <a:r>
              <a:rPr b="0" i="0" lang="en-US" sz="12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measure → analyze bottleneck → research a technique → test on hardware → remeasure → document → decide keep or revert.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19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R&amp;D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Four techniques under research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6"/>
          <p:cNvSpPr/>
          <p:nvPr/>
        </p:nvSpPr>
        <p:spPr>
          <a:xfrm>
            <a:off x="640080" y="1783080"/>
            <a:ext cx="5295748" cy="1691640"/>
          </a:xfrm>
          <a:prstGeom prst="roundRect">
            <a:avLst>
              <a:gd fmla="val 4865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914400" y="2263140"/>
            <a:ext cx="731520" cy="73152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thermometer.png" id="441" name="Google Shape;4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8" y="2358238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6"/>
          <p:cNvSpPr txBox="1"/>
          <p:nvPr/>
        </p:nvSpPr>
        <p:spPr>
          <a:xfrm>
            <a:off x="1828800" y="2039112"/>
            <a:ext cx="38327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Model warming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 txBox="1"/>
          <p:nvPr/>
        </p:nvSpPr>
        <p:spPr>
          <a:xfrm>
            <a:off x="1828800" y="2441448"/>
            <a:ext cx="38327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Keep the model loaded in VRAM across requests. Target: cold start under 30s.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6255868" y="1783080"/>
            <a:ext cx="5295748" cy="1691640"/>
          </a:xfrm>
          <a:prstGeom prst="roundRect">
            <a:avLst>
              <a:gd fmla="val 4865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6530188" y="2263140"/>
            <a:ext cx="731520" cy="73152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layers.png" id="446" name="Google Shape;4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5285" y="2358238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6"/>
          <p:cNvSpPr txBox="1"/>
          <p:nvPr/>
        </p:nvSpPr>
        <p:spPr>
          <a:xfrm>
            <a:off x="7444588" y="2039112"/>
            <a:ext cx="38327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Speculative decoding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 txBox="1"/>
          <p:nvPr/>
        </p:nvSpPr>
        <p:spPr>
          <a:xfrm>
            <a:off x="7444588" y="2441448"/>
            <a:ext cx="38327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Cheap draft tokens, target model accepts/rejects — multiplies effective throughput.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640080" y="3749040"/>
            <a:ext cx="5295748" cy="1691640"/>
          </a:xfrm>
          <a:prstGeom prst="roundRect">
            <a:avLst>
              <a:gd fmla="val 4865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6"/>
          <p:cNvSpPr/>
          <p:nvPr/>
        </p:nvSpPr>
        <p:spPr>
          <a:xfrm>
            <a:off x="914400" y="4229100"/>
            <a:ext cx="731520" cy="73152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sliders.png" id="451" name="Google Shape;45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498" y="4324198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6"/>
          <p:cNvSpPr txBox="1"/>
          <p:nvPr/>
        </p:nvSpPr>
        <p:spPr>
          <a:xfrm>
            <a:off x="1828800" y="4005072"/>
            <a:ext cx="38327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Quantization strategy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 txBox="1"/>
          <p:nvPr/>
        </p:nvSpPr>
        <p:spPr>
          <a:xfrm>
            <a:off x="1828800" y="4407408"/>
            <a:ext cx="38327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Test Q4/Q5/Q6 GGUF levels — balance VRAM, speed, and coding-quality benchmarks.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6255868" y="3749040"/>
            <a:ext cx="5295748" cy="1691640"/>
          </a:xfrm>
          <a:prstGeom prst="roundRect">
            <a:avLst>
              <a:gd fmla="val 4865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6530188" y="4229100"/>
            <a:ext cx="731520" cy="73152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maximize.png" id="456" name="Google Shape;45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5285" y="4324198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6"/>
          <p:cNvSpPr txBox="1"/>
          <p:nvPr/>
        </p:nvSpPr>
        <p:spPr>
          <a:xfrm>
            <a:off x="7444588" y="4005072"/>
            <a:ext cx="38327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YaRN context scaling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 txBox="1"/>
          <p:nvPr/>
        </p:nvSpPr>
        <p:spPr>
          <a:xfrm>
            <a:off x="7444588" y="4407408"/>
            <a:ext cx="38327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Rope scaling so a large context window doesn't blow past available VRAM.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 txBox="1"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Every optimization ships with a before/after measurement — never guesswork.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20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7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SCHEDULING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7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The broker: two scheduling problems, not one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7"/>
          <p:cNvSpPr/>
          <p:nvPr/>
        </p:nvSpPr>
        <p:spPr>
          <a:xfrm>
            <a:off x="3459403" y="1646890"/>
            <a:ext cx="5272800" cy="2606100"/>
          </a:xfrm>
          <a:prstGeom prst="roundRect">
            <a:avLst>
              <a:gd fmla="val 3158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7"/>
          <p:cNvSpPr txBox="1"/>
          <p:nvPr/>
        </p:nvSpPr>
        <p:spPr>
          <a:xfrm>
            <a:off x="3779443" y="1921210"/>
            <a:ext cx="463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WHICH GPU?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 txBox="1"/>
          <p:nvPr/>
        </p:nvSpPr>
        <p:spPr>
          <a:xfrm>
            <a:off x="3779443" y="2378410"/>
            <a:ext cx="46329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Which GPUs are healthy &amp; free?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Is the model already loaded there?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Wait, or route to a different rig?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What if a whole rig disappears?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640080" y="4526280"/>
            <a:ext cx="10911535" cy="1371600"/>
          </a:xfrm>
          <a:prstGeom prst="roundRect">
            <a:avLst>
              <a:gd fmla="val 6000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7"/>
          <p:cNvSpPr txBox="1"/>
          <p:nvPr/>
        </p:nvSpPr>
        <p:spPr>
          <a:xfrm>
            <a:off x="960120" y="4526280"/>
            <a:ext cx="10271455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MVP rule: </a:t>
            </a:r>
            <a:r>
              <a:rPr b="0" i="0" lang="en-US" sz="12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filter to healthy workers → filter to capable ones → prefer an already-loaded model → pick least-busy → queue if nothing's free → log the decision. Smarter policies get benchmarked against this baseline, never assumed.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7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21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h7b7359692d36f557_0_0"/>
          <p:cNvSpPr txBox="1"/>
          <p:nvPr/>
        </p:nvSpPr>
        <p:spPr>
          <a:xfrm>
            <a:off x="640080" y="41148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SCHEDULING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h7b7359692d36f557_0_0"/>
          <p:cNvSpPr txBox="1"/>
          <p:nvPr/>
        </p:nvSpPr>
        <p:spPr>
          <a:xfrm>
            <a:off x="640080" y="713232"/>
            <a:ext cx="9601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What it looks like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h7b7359692d36f557_0_0"/>
          <p:cNvSpPr txBox="1"/>
          <p:nvPr/>
        </p:nvSpPr>
        <p:spPr>
          <a:xfrm>
            <a:off x="9265615" y="640080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22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2" name="Google Shape;482;h7b7359692d36f557_0_0" title="IMG_301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963" y="1457024"/>
            <a:ext cx="6689423" cy="5017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h7b7359692d36f557_0_13"/>
          <p:cNvSpPr txBox="1"/>
          <p:nvPr/>
        </p:nvSpPr>
        <p:spPr>
          <a:xfrm>
            <a:off x="640080" y="41148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SCHEDULING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h7b7359692d36f557_0_13"/>
          <p:cNvSpPr txBox="1"/>
          <p:nvPr/>
        </p:nvSpPr>
        <p:spPr>
          <a:xfrm>
            <a:off x="640080" y="713232"/>
            <a:ext cx="9601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What it looks like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h7b7359692d36f557_0_13"/>
          <p:cNvSpPr txBox="1"/>
          <p:nvPr/>
        </p:nvSpPr>
        <p:spPr>
          <a:xfrm>
            <a:off x="9265615" y="640080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23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1" name="Google Shape;491;h7b7359692d36f557_0_13" title="IMG_326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9275" y="1468657"/>
            <a:ext cx="3762801" cy="5017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h7b7359692d36f557_0_32"/>
          <p:cNvSpPr txBox="1"/>
          <p:nvPr/>
        </p:nvSpPr>
        <p:spPr>
          <a:xfrm>
            <a:off x="640080" y="41148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SCHEDULING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h7b7359692d36f557_0_32"/>
          <p:cNvSpPr txBox="1"/>
          <p:nvPr/>
        </p:nvSpPr>
        <p:spPr>
          <a:xfrm>
            <a:off x="640080" y="713232"/>
            <a:ext cx="9601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What it looks like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h7b7359692d36f557_0_32"/>
          <p:cNvSpPr txBox="1"/>
          <p:nvPr/>
        </p:nvSpPr>
        <p:spPr>
          <a:xfrm>
            <a:off x="9265615" y="640080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24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h7b7359692d36f557_0_32" title="IMG_31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9275" y="1536132"/>
            <a:ext cx="3762801" cy="5017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h7b7359692d36f557_0_23"/>
          <p:cNvSpPr txBox="1"/>
          <p:nvPr/>
        </p:nvSpPr>
        <p:spPr>
          <a:xfrm>
            <a:off x="640080" y="41148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SCHEDULING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h7b7359692d36f557_0_23"/>
          <p:cNvSpPr txBox="1"/>
          <p:nvPr/>
        </p:nvSpPr>
        <p:spPr>
          <a:xfrm>
            <a:off x="640080" y="713232"/>
            <a:ext cx="96012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What it looks like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h7b7359692d36f557_0_23"/>
          <p:cNvSpPr txBox="1"/>
          <p:nvPr/>
        </p:nvSpPr>
        <p:spPr>
          <a:xfrm>
            <a:off x="9265615" y="6400800"/>
            <a:ext cx="2651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25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9" name="Google Shape;509;h7b7359692d36f557_0_23" title="IMG_31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4600" y="1536132"/>
            <a:ext cx="3762801" cy="5017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TEAM STRUCTURE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Seven workstreams, one architecture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7" name="Google Shape;517;p18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{507BB346-DABF-43D8-A5E1-1A7FE76E6F4E}</a:tableStyleId>
              </a:tblPr>
              <a:tblGrid>
                <a:gridCol w="2377450"/>
                <a:gridCol w="85341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090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809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Workstream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7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090B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809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Responsibilities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7A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/ API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EC2, NGINX, FastAPI, authentication, public endpoint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NetBird deployment, peer connectivity, P2P vs. relay testing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 runtime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Drivers, CUDA, llama.cpp, model benchmarks, rig builds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Broker / scheduler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Worker registry, queues, session &amp; GPU assignment, failover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Observability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Health checks, logs, queue depth, latency, GPU utilization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Docs / testing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Issues, setup guides, architecture diagrams, experiment results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</a:tr>
            </a:tbl>
          </a:graphicData>
        </a:graphic>
      </p:graphicFrame>
      <p:sp>
        <p:nvSpPr>
          <p:cNvPr id="518" name="Google Shape;518;p18"/>
          <p:cNvSpPr txBox="1"/>
          <p:nvPr/>
        </p:nvSpPr>
        <p:spPr>
          <a:xfrm>
            <a:off x="640080" y="580644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Core contributors across the sprint: </a:t>
            </a:r>
            <a:r>
              <a:rPr lang="en-US" sz="1250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Mihir B, Aditya K, Nikhil M, Yash P, Yash Patil, Anvay V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8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26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9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The six-week pilot campaign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7" name="Google Shape;527;p19"/>
          <p:cNvGraphicFramePr/>
          <p:nvPr/>
        </p:nvGraphicFramePr>
        <p:xfrm>
          <a:off x="64008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{507BB346-DABF-43D8-A5E1-1A7FE76E6F4E}</a:tableStyleId>
              </a:tblPr>
              <a:tblGrid>
                <a:gridCol w="731525"/>
                <a:gridCol w="3291850"/>
                <a:gridCol w="6888175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090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809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Week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7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090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809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7A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090B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0809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Done when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7A30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Authorize discovery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 0 packet signed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 one lane end-to-end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Reinstall from scratch; baseline numbers recorded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Pick the model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Bake-off decision record; winner + fallback chosen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 up, lock down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Gateway, keys, quotas, health checks live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Observe and attack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critical issue still open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 with a limited cohort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Pilot evidence complete, N@TM package frozen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116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87A30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D87A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Decide, then showcase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DFCF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EFDFC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Continuity drill, sponsor review, N@TM gallery night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B2E3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7191F"/>
                    </a:solidFill>
                  </a:tcPr>
                </a:tc>
              </a:tr>
            </a:tbl>
          </a:graphicData>
        </a:graphic>
      </p:graphicFrame>
      <p:sp>
        <p:nvSpPr>
          <p:cNvPr id="528" name="Google Shape;528;p19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27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0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Breaking it on purpose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0"/>
          <p:cNvSpPr txBox="1"/>
          <p:nvPr/>
        </p:nvSpPr>
        <p:spPr>
          <a:xfrm>
            <a:off x="640080" y="146304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Testing runs smoke → baseline → sustained → burst → soak → abuse, plus five named failure simulations before anything reaches students.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640080" y="2423160"/>
            <a:ext cx="2021373" cy="2331720"/>
          </a:xfrm>
          <a:prstGeom prst="roundRect">
            <a:avLst>
              <a:gd fmla="val 4071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0"/>
          <p:cNvSpPr/>
          <p:nvPr/>
        </p:nvSpPr>
        <p:spPr>
          <a:xfrm>
            <a:off x="1330726" y="269748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target.png" id="539" name="Google Shape;5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3937" y="27806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0"/>
          <p:cNvSpPr txBox="1"/>
          <p:nvPr/>
        </p:nvSpPr>
        <p:spPr>
          <a:xfrm>
            <a:off x="713232" y="3520440"/>
            <a:ext cx="187506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SPECTER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 txBox="1"/>
          <p:nvPr/>
        </p:nvSpPr>
        <p:spPr>
          <a:xfrm>
            <a:off x="731520" y="3886200"/>
            <a:ext cx="1838493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Capacity — push load past the limit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2862621" y="2423160"/>
            <a:ext cx="2021373" cy="2331720"/>
          </a:xfrm>
          <a:prstGeom prst="roundRect">
            <a:avLst>
              <a:gd fmla="val 4071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0"/>
          <p:cNvSpPr/>
          <p:nvPr/>
        </p:nvSpPr>
        <p:spPr>
          <a:xfrm>
            <a:off x="3553267" y="269748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zap.png" id="544" name="Google Shape;54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6477" y="27806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20"/>
          <p:cNvSpPr txBox="1"/>
          <p:nvPr/>
        </p:nvSpPr>
        <p:spPr>
          <a:xfrm>
            <a:off x="2935773" y="3520440"/>
            <a:ext cx="187506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FORGE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 txBox="1"/>
          <p:nvPr/>
        </p:nvSpPr>
        <p:spPr>
          <a:xfrm>
            <a:off x="2954061" y="3886200"/>
            <a:ext cx="1838493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Component loss — kill a rig mid-request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5085161" y="2423160"/>
            <a:ext cx="2021373" cy="2331720"/>
          </a:xfrm>
          <a:prstGeom prst="roundRect">
            <a:avLst>
              <a:gd fmla="val 4071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0"/>
          <p:cNvSpPr/>
          <p:nvPr/>
        </p:nvSpPr>
        <p:spPr>
          <a:xfrm>
            <a:off x="5775808" y="269748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alert-triangle.png" id="549" name="Google Shape;54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9018" y="27806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0"/>
          <p:cNvSpPr txBox="1"/>
          <p:nvPr/>
        </p:nvSpPr>
        <p:spPr>
          <a:xfrm>
            <a:off x="5158313" y="3520440"/>
            <a:ext cx="187506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RED TEAM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0"/>
          <p:cNvSpPr txBox="1"/>
          <p:nvPr/>
        </p:nvSpPr>
        <p:spPr>
          <a:xfrm>
            <a:off x="5176601" y="3886200"/>
            <a:ext cx="1838493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Prompt injection &amp; adversarial 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0"/>
          <p:cNvSpPr/>
          <p:nvPr/>
        </p:nvSpPr>
        <p:spPr>
          <a:xfrm>
            <a:off x="7307702" y="2423160"/>
            <a:ext cx="2021373" cy="2331720"/>
          </a:xfrm>
          <a:prstGeom prst="roundRect">
            <a:avLst>
              <a:gd fmla="val 4071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0"/>
          <p:cNvSpPr/>
          <p:nvPr/>
        </p:nvSpPr>
        <p:spPr>
          <a:xfrm>
            <a:off x="7998348" y="269748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gavel.png" id="554" name="Google Shape;55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1559" y="27806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0"/>
          <p:cNvSpPr txBox="1"/>
          <p:nvPr/>
        </p:nvSpPr>
        <p:spPr>
          <a:xfrm>
            <a:off x="7380854" y="3520440"/>
            <a:ext cx="187506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SOVEREIGN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0"/>
          <p:cNvSpPr txBox="1"/>
          <p:nvPr/>
        </p:nvSpPr>
        <p:spPr>
          <a:xfrm>
            <a:off x="7399142" y="3886200"/>
            <a:ext cx="1838493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Governance — decision &amp; sign-off drill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9530243" y="2423160"/>
            <a:ext cx="2021373" cy="2331720"/>
          </a:xfrm>
          <a:prstGeom prst="roundRect">
            <a:avLst>
              <a:gd fmla="val 4071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0"/>
          <p:cNvSpPr/>
          <p:nvPr/>
        </p:nvSpPr>
        <p:spPr>
          <a:xfrm>
            <a:off x="10220889" y="269748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refresh-cw.png" id="559" name="Google Shape;55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04099" y="27806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0"/>
          <p:cNvSpPr txBox="1"/>
          <p:nvPr/>
        </p:nvSpPr>
        <p:spPr>
          <a:xfrm>
            <a:off x="9603395" y="3520440"/>
            <a:ext cx="187506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ORACLE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 txBox="1"/>
          <p:nvPr/>
        </p:nvSpPr>
        <p:spPr>
          <a:xfrm>
            <a:off x="9621683" y="3886200"/>
            <a:ext cx="1838493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Continuity — recovery after a stop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640080" y="4937760"/>
            <a:ext cx="10911535" cy="777240"/>
          </a:xfrm>
          <a:prstGeom prst="roundRect">
            <a:avLst>
              <a:gd fmla="val 10588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0"/>
          <p:cNvSpPr txBox="1"/>
          <p:nvPr/>
        </p:nvSpPr>
        <p:spPr>
          <a:xfrm>
            <a:off x="914400" y="4937760"/>
            <a:ext cx="10362895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Quality bar: </a:t>
            </a:r>
            <a:r>
              <a:rPr b="0" i="0" lang="en-US" sz="12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 frozen 56-task test set, blind-graded by two reviewers, before we call any model a pass.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0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28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1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Safety isn't an afterthought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640080" y="1691640"/>
            <a:ext cx="5272888" cy="3200400"/>
          </a:xfrm>
          <a:prstGeom prst="roundRect">
            <a:avLst>
              <a:gd fmla="val 2571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1"/>
          <p:cNvSpPr txBox="1"/>
          <p:nvPr/>
        </p:nvSpPr>
        <p:spPr>
          <a:xfrm>
            <a:off x="960120" y="1965960"/>
            <a:ext cx="4632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CONTROLS IN FRONT OF THE ENDPOINT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1"/>
          <p:cNvSpPr txBox="1"/>
          <p:nvPr/>
        </p:nvSpPr>
        <p:spPr>
          <a:xfrm>
            <a:off x="960120" y="2423160"/>
            <a:ext cx="4632808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Auth gate + strict account controls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Open signups disabled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Per-IP rate limiting at NGINX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Shared secrets rotated before multi-replica rollout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6278728" y="1691640"/>
            <a:ext cx="5272888" cy="3200400"/>
          </a:xfrm>
          <a:prstGeom prst="roundRect">
            <a:avLst>
              <a:gd fmla="val 2571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1"/>
          <p:cNvSpPr txBox="1"/>
          <p:nvPr/>
        </p:nvSpPr>
        <p:spPr>
          <a:xfrm>
            <a:off x="6598768" y="1965960"/>
            <a:ext cx="4632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KILL &amp; PIVOT CONDITIONS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1"/>
          <p:cNvSpPr txBox="1"/>
          <p:nvPr/>
        </p:nvSpPr>
        <p:spPr>
          <a:xfrm>
            <a:off x="6598768" y="2423160"/>
            <a:ext cx="4632808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Hard stop-immediately triggers, defined up front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Pivot path if the model class can't do the job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Pivot path if the rack can't sustain load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200"/>
              </a:spcBef>
              <a:spcAft>
                <a:spcPts val="0"/>
              </a:spcAft>
              <a:buClr>
                <a:srgbClr val="EFDFC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No fine-tuning during the six-week campaign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1"/>
          <p:cNvSpPr txBox="1"/>
          <p:nvPr/>
        </p:nvSpPr>
        <p:spPr>
          <a:xfrm>
            <a:off x="640080" y="5074920"/>
            <a:ext cx="1091153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All code is open-sourced; ownership of the build stays with the students. Principal &amp; CTE specialist briefed directly as our sign-off path.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1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29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B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2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2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Where we actually are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2"/>
          <p:cNvSpPr/>
          <p:nvPr/>
        </p:nvSpPr>
        <p:spPr>
          <a:xfrm>
            <a:off x="640080" y="1965960"/>
            <a:ext cx="1999427" cy="2468880"/>
          </a:xfrm>
          <a:prstGeom prst="roundRect">
            <a:avLst>
              <a:gd fmla="val 4116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2"/>
          <p:cNvSpPr txBox="1"/>
          <p:nvPr/>
        </p:nvSpPr>
        <p:spPr>
          <a:xfrm>
            <a:off x="822960" y="2194560"/>
            <a:ext cx="163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PHASE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2"/>
          <p:cNvSpPr txBox="1"/>
          <p:nvPr/>
        </p:nvSpPr>
        <p:spPr>
          <a:xfrm>
            <a:off x="822960" y="2514600"/>
            <a:ext cx="1633667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822960" y="3840480"/>
            <a:ext cx="1633667" cy="384048"/>
          </a:xfrm>
          <a:prstGeom prst="roundRect">
            <a:avLst>
              <a:gd fmla="val 50000" name="adj"/>
            </a:avLst>
          </a:prstGeom>
          <a:solidFill>
            <a:srgbClr val="16261A"/>
          </a:solidFill>
          <a:ln cap="flat" cmpd="sng" w="12700">
            <a:solidFill>
              <a:srgbClr val="3F7A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2"/>
          <p:cNvSpPr txBox="1"/>
          <p:nvPr/>
        </p:nvSpPr>
        <p:spPr>
          <a:xfrm>
            <a:off x="822960" y="3840480"/>
            <a:ext cx="163366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D98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FD98A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2"/>
          <p:cNvSpPr/>
          <p:nvPr/>
        </p:nvSpPr>
        <p:spPr>
          <a:xfrm>
            <a:off x="2868107" y="1965960"/>
            <a:ext cx="1999427" cy="2468880"/>
          </a:xfrm>
          <a:prstGeom prst="roundRect">
            <a:avLst>
              <a:gd fmla="val 4116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2"/>
          <p:cNvSpPr txBox="1"/>
          <p:nvPr/>
        </p:nvSpPr>
        <p:spPr>
          <a:xfrm>
            <a:off x="3050987" y="2194560"/>
            <a:ext cx="163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2"/>
          <p:cNvSpPr txBox="1"/>
          <p:nvPr/>
        </p:nvSpPr>
        <p:spPr>
          <a:xfrm>
            <a:off x="3050987" y="2514600"/>
            <a:ext cx="1633667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Smallest E2E proof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2"/>
          <p:cNvSpPr/>
          <p:nvPr/>
        </p:nvSpPr>
        <p:spPr>
          <a:xfrm>
            <a:off x="3050987" y="3840480"/>
            <a:ext cx="1633667" cy="384048"/>
          </a:xfrm>
          <a:prstGeom prst="roundRect">
            <a:avLst>
              <a:gd fmla="val 50000" name="adj"/>
            </a:avLst>
          </a:prstGeom>
          <a:solidFill>
            <a:srgbClr val="23180D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/>
          <p:cNvSpPr txBox="1"/>
          <p:nvPr/>
        </p:nvSpPr>
        <p:spPr>
          <a:xfrm>
            <a:off x="3050987" y="3840480"/>
            <a:ext cx="163366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2"/>
          <p:cNvSpPr/>
          <p:nvPr/>
        </p:nvSpPr>
        <p:spPr>
          <a:xfrm>
            <a:off x="5096134" y="1965960"/>
            <a:ext cx="1999427" cy="2468880"/>
          </a:xfrm>
          <a:prstGeom prst="roundRect">
            <a:avLst>
              <a:gd fmla="val 4116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2"/>
          <p:cNvSpPr txBox="1"/>
          <p:nvPr/>
        </p:nvSpPr>
        <p:spPr>
          <a:xfrm>
            <a:off x="5279014" y="2194560"/>
            <a:ext cx="163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2"/>
          <p:cNvSpPr txBox="1"/>
          <p:nvPr/>
        </p:nvSpPr>
        <p:spPr>
          <a:xfrm>
            <a:off x="5279014" y="2514600"/>
            <a:ext cx="1633667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Health &amp; registration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2"/>
          <p:cNvSpPr/>
          <p:nvPr/>
        </p:nvSpPr>
        <p:spPr>
          <a:xfrm>
            <a:off x="5279014" y="3840480"/>
            <a:ext cx="1633667" cy="384048"/>
          </a:xfrm>
          <a:prstGeom prst="roundRect">
            <a:avLst>
              <a:gd fmla="val 50000" name="adj"/>
            </a:avLst>
          </a:prstGeom>
          <a:solidFill>
            <a:srgbClr val="1A1C22"/>
          </a:solidFill>
          <a:ln cap="flat" cmpd="sng" w="12700">
            <a:solidFill>
              <a:srgbClr val="3A3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2"/>
          <p:cNvSpPr txBox="1"/>
          <p:nvPr/>
        </p:nvSpPr>
        <p:spPr>
          <a:xfrm>
            <a:off x="5279014" y="3840480"/>
            <a:ext cx="163366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2"/>
          <p:cNvSpPr/>
          <p:nvPr/>
        </p:nvSpPr>
        <p:spPr>
          <a:xfrm>
            <a:off x="7324161" y="1965960"/>
            <a:ext cx="1999427" cy="2468880"/>
          </a:xfrm>
          <a:prstGeom prst="roundRect">
            <a:avLst>
              <a:gd fmla="val 4116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2"/>
          <p:cNvSpPr txBox="1"/>
          <p:nvPr/>
        </p:nvSpPr>
        <p:spPr>
          <a:xfrm>
            <a:off x="7507041" y="2194560"/>
            <a:ext cx="163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2"/>
          <p:cNvSpPr txBox="1"/>
          <p:nvPr/>
        </p:nvSpPr>
        <p:spPr>
          <a:xfrm>
            <a:off x="7507041" y="2514600"/>
            <a:ext cx="1633667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Queue &amp; scheduling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2"/>
          <p:cNvSpPr/>
          <p:nvPr/>
        </p:nvSpPr>
        <p:spPr>
          <a:xfrm>
            <a:off x="7507041" y="3840480"/>
            <a:ext cx="1633667" cy="384048"/>
          </a:xfrm>
          <a:prstGeom prst="roundRect">
            <a:avLst>
              <a:gd fmla="val 50000" name="adj"/>
            </a:avLst>
          </a:prstGeom>
          <a:solidFill>
            <a:srgbClr val="1A1C22"/>
          </a:solidFill>
          <a:ln cap="flat" cmpd="sng" w="12700">
            <a:solidFill>
              <a:srgbClr val="3A3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2"/>
          <p:cNvSpPr txBox="1"/>
          <p:nvPr/>
        </p:nvSpPr>
        <p:spPr>
          <a:xfrm>
            <a:off x="7507041" y="3840480"/>
            <a:ext cx="163366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2"/>
          <p:cNvSpPr/>
          <p:nvPr/>
        </p:nvSpPr>
        <p:spPr>
          <a:xfrm>
            <a:off x="9552188" y="1965960"/>
            <a:ext cx="1999427" cy="2468880"/>
          </a:xfrm>
          <a:prstGeom prst="roundRect">
            <a:avLst>
              <a:gd fmla="val 4116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2"/>
          <p:cNvSpPr txBox="1"/>
          <p:nvPr/>
        </p:nvSpPr>
        <p:spPr>
          <a:xfrm>
            <a:off x="9735068" y="2194560"/>
            <a:ext cx="163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PHASE 4–6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2"/>
          <p:cNvSpPr txBox="1"/>
          <p:nvPr/>
        </p:nvSpPr>
        <p:spPr>
          <a:xfrm>
            <a:off x="9735068" y="2514600"/>
            <a:ext cx="1633667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Sessions, scale, prod/dev split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2"/>
          <p:cNvSpPr/>
          <p:nvPr/>
        </p:nvSpPr>
        <p:spPr>
          <a:xfrm>
            <a:off x="9735068" y="3840480"/>
            <a:ext cx="1633667" cy="384048"/>
          </a:xfrm>
          <a:prstGeom prst="roundRect">
            <a:avLst>
              <a:gd fmla="val 50000" name="adj"/>
            </a:avLst>
          </a:prstGeom>
          <a:solidFill>
            <a:srgbClr val="1A1C22"/>
          </a:solidFill>
          <a:ln cap="flat" cmpd="sng" w="12700">
            <a:solidFill>
              <a:srgbClr val="3A3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2"/>
          <p:cNvSpPr txBox="1"/>
          <p:nvPr/>
        </p:nvSpPr>
        <p:spPr>
          <a:xfrm>
            <a:off x="9735068" y="3840480"/>
            <a:ext cx="163366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640080" y="4709160"/>
            <a:ext cx="10911535" cy="914400"/>
          </a:xfrm>
          <a:prstGeom prst="roundRect">
            <a:avLst>
              <a:gd fmla="val 9000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2"/>
          <p:cNvSpPr txBox="1"/>
          <p:nvPr/>
        </p:nvSpPr>
        <p:spPr>
          <a:xfrm>
            <a:off x="914400" y="470916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Live today: </a:t>
            </a:r>
            <a:r>
              <a:rPr b="0" i="0" lang="en-US" sz="13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the public serving path (NetBird + relay + Open WebUI). Still ahead: broker, scheduler, and worker health.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2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30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B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3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MILESTONE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3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Ground Zero, closed out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3"/>
          <p:cNvSpPr/>
          <p:nvPr/>
        </p:nvSpPr>
        <p:spPr>
          <a:xfrm>
            <a:off x="640080" y="1783080"/>
            <a:ext cx="3423818" cy="1965960"/>
          </a:xfrm>
          <a:prstGeom prst="roundRect">
            <a:avLst>
              <a:gd fmla="val 4186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3"/>
          <p:cNvSpPr txBox="1"/>
          <p:nvPr/>
        </p:nvSpPr>
        <p:spPr>
          <a:xfrm>
            <a:off x="914400" y="1965960"/>
            <a:ext cx="287517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3"/>
          <p:cNvSpPr txBox="1"/>
          <p:nvPr/>
        </p:nvSpPr>
        <p:spPr>
          <a:xfrm>
            <a:off x="914400" y="2743200"/>
            <a:ext cx="287517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GTX 1070s assembled and verified across two rigs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4383938" y="1783080"/>
            <a:ext cx="3423818" cy="1965960"/>
          </a:xfrm>
          <a:prstGeom prst="roundRect">
            <a:avLst>
              <a:gd fmla="val 4186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3"/>
          <p:cNvSpPr txBox="1"/>
          <p:nvPr/>
        </p:nvSpPr>
        <p:spPr>
          <a:xfrm>
            <a:off x="4658258" y="1965960"/>
            <a:ext cx="287517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3"/>
          <p:cNvSpPr txBox="1"/>
          <p:nvPr/>
        </p:nvSpPr>
        <p:spPr>
          <a:xfrm>
            <a:off x="4658258" y="2743200"/>
            <a:ext cx="287517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Public HTTPS endpoint live, serving real student traffic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3"/>
          <p:cNvSpPr/>
          <p:nvPr/>
        </p:nvSpPr>
        <p:spPr>
          <a:xfrm>
            <a:off x="8127797" y="1783080"/>
            <a:ext cx="3423818" cy="1965960"/>
          </a:xfrm>
          <a:prstGeom prst="roundRect">
            <a:avLst>
              <a:gd fmla="val 4186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3"/>
          <p:cNvSpPr txBox="1"/>
          <p:nvPr/>
        </p:nvSpPr>
        <p:spPr>
          <a:xfrm>
            <a:off x="8402117" y="1965960"/>
            <a:ext cx="287517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3"/>
          <p:cNvSpPr txBox="1"/>
          <p:nvPr/>
        </p:nvSpPr>
        <p:spPr>
          <a:xfrm>
            <a:off x="8402117" y="2743200"/>
            <a:ext cx="287517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Tunneling dead-ends documented so nobody repeats them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3"/>
          <p:cNvSpPr/>
          <p:nvPr/>
        </p:nvSpPr>
        <p:spPr>
          <a:xfrm>
            <a:off x="640080" y="4023360"/>
            <a:ext cx="3423818" cy="1965960"/>
          </a:xfrm>
          <a:prstGeom prst="roundRect">
            <a:avLst>
              <a:gd fmla="val 4186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3"/>
          <p:cNvSpPr txBox="1"/>
          <p:nvPr/>
        </p:nvSpPr>
        <p:spPr>
          <a:xfrm>
            <a:off x="914400" y="4206240"/>
            <a:ext cx="287517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3"/>
          <p:cNvSpPr txBox="1"/>
          <p:nvPr/>
        </p:nvSpPr>
        <p:spPr>
          <a:xfrm>
            <a:off x="914400" y="4983480"/>
            <a:ext cx="287517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Dollars spent on per-seat AI subscriptions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3"/>
          <p:cNvSpPr/>
          <p:nvPr/>
        </p:nvSpPr>
        <p:spPr>
          <a:xfrm>
            <a:off x="4383938" y="4023360"/>
            <a:ext cx="3423818" cy="1965960"/>
          </a:xfrm>
          <a:prstGeom prst="roundRect">
            <a:avLst>
              <a:gd fmla="val 4186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3"/>
          <p:cNvSpPr txBox="1"/>
          <p:nvPr/>
        </p:nvSpPr>
        <p:spPr>
          <a:xfrm>
            <a:off x="4658258" y="4206240"/>
            <a:ext cx="287517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27B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3"/>
          <p:cNvSpPr txBox="1"/>
          <p:nvPr/>
        </p:nvSpPr>
        <p:spPr>
          <a:xfrm>
            <a:off x="4658258" y="4983480"/>
            <a:ext cx="287517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-parameter model chosen and running, not just planned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3"/>
          <p:cNvSpPr/>
          <p:nvPr/>
        </p:nvSpPr>
        <p:spPr>
          <a:xfrm>
            <a:off x="8127797" y="4023360"/>
            <a:ext cx="3423818" cy="1965960"/>
          </a:xfrm>
          <a:prstGeom prst="roundRect">
            <a:avLst>
              <a:gd fmla="val 4186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3"/>
          <p:cNvSpPr txBox="1"/>
          <p:nvPr/>
        </p:nvSpPr>
        <p:spPr>
          <a:xfrm>
            <a:off x="8402117" y="4206240"/>
            <a:ext cx="287517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D87A30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3"/>
          <p:cNvSpPr txBox="1"/>
          <p:nvPr/>
        </p:nvSpPr>
        <p:spPr>
          <a:xfrm>
            <a:off x="8402117" y="4983480"/>
            <a:ext cx="287517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Workstreams scoped with owners, not one undivided task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3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31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4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BACKLOG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4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Immediate next-sprint backlog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4"/>
          <p:cNvSpPr/>
          <p:nvPr/>
        </p:nvSpPr>
        <p:spPr>
          <a:xfrm>
            <a:off x="640080" y="1691640"/>
            <a:ext cx="10911535" cy="841248"/>
          </a:xfrm>
          <a:prstGeom prst="roundRect">
            <a:avLst>
              <a:gd fmla="val 978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4"/>
          <p:cNvSpPr/>
          <p:nvPr/>
        </p:nvSpPr>
        <p:spPr>
          <a:xfrm>
            <a:off x="896112" y="1901952"/>
            <a:ext cx="777240" cy="420624"/>
          </a:xfrm>
          <a:prstGeom prst="roundRect">
            <a:avLst>
              <a:gd fmla="val 50000" name="adj"/>
            </a:avLst>
          </a:prstGeom>
          <a:solidFill>
            <a:srgbClr val="23180D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4"/>
          <p:cNvSpPr txBox="1"/>
          <p:nvPr/>
        </p:nvSpPr>
        <p:spPr>
          <a:xfrm>
            <a:off x="896112" y="1901952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P0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4"/>
          <p:cNvSpPr txBox="1"/>
          <p:nvPr/>
        </p:nvSpPr>
        <p:spPr>
          <a:xfrm>
            <a:off x="1920240" y="1801368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Prove the GPU runtime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4"/>
          <p:cNvSpPr txBox="1"/>
          <p:nvPr/>
        </p:nvSpPr>
        <p:spPr>
          <a:xfrm>
            <a:off x="5303520" y="1801368"/>
            <a:ext cx="5973775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Driver + llama-server + one GGUF model → one documented API response, benchmarked.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4"/>
          <p:cNvSpPr/>
          <p:nvPr/>
        </p:nvSpPr>
        <p:spPr>
          <a:xfrm>
            <a:off x="640080" y="2660904"/>
            <a:ext cx="10911535" cy="841248"/>
          </a:xfrm>
          <a:prstGeom prst="roundRect">
            <a:avLst>
              <a:gd fmla="val 978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4"/>
          <p:cNvSpPr/>
          <p:nvPr/>
        </p:nvSpPr>
        <p:spPr>
          <a:xfrm>
            <a:off x="896112" y="2871216"/>
            <a:ext cx="777240" cy="420624"/>
          </a:xfrm>
          <a:prstGeom prst="roundRect">
            <a:avLst>
              <a:gd fmla="val 50000" name="adj"/>
            </a:avLst>
          </a:prstGeom>
          <a:solidFill>
            <a:srgbClr val="23180D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4"/>
          <p:cNvSpPr txBox="1"/>
          <p:nvPr/>
        </p:nvSpPr>
        <p:spPr>
          <a:xfrm>
            <a:off x="896112" y="2871216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P1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4"/>
          <p:cNvSpPr txBox="1"/>
          <p:nvPr/>
        </p:nvSpPr>
        <p:spPr>
          <a:xfrm>
            <a:off x="1920240" y="2770632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Prove private connectivity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4"/>
          <p:cNvSpPr txBox="1"/>
          <p:nvPr/>
        </p:nvSpPr>
        <p:spPr>
          <a:xfrm>
            <a:off x="5303520" y="2770632"/>
            <a:ext cx="5973775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NetBird across control node, and GPU node — P2P vs. relay, RTT recorded.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4"/>
          <p:cNvSpPr/>
          <p:nvPr/>
        </p:nvSpPr>
        <p:spPr>
          <a:xfrm>
            <a:off x="640080" y="3630168"/>
            <a:ext cx="10911535" cy="841248"/>
          </a:xfrm>
          <a:prstGeom prst="roundRect">
            <a:avLst>
              <a:gd fmla="val 978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4"/>
          <p:cNvSpPr/>
          <p:nvPr/>
        </p:nvSpPr>
        <p:spPr>
          <a:xfrm>
            <a:off x="896112" y="3840480"/>
            <a:ext cx="777240" cy="420624"/>
          </a:xfrm>
          <a:prstGeom prst="roundRect">
            <a:avLst>
              <a:gd fmla="val 50000" name="adj"/>
            </a:avLst>
          </a:prstGeom>
          <a:solidFill>
            <a:srgbClr val="23180D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4"/>
          <p:cNvSpPr txBox="1"/>
          <p:nvPr/>
        </p:nvSpPr>
        <p:spPr>
          <a:xfrm>
            <a:off x="896112" y="3840480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P2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4"/>
          <p:cNvSpPr txBox="1"/>
          <p:nvPr/>
        </p:nvSpPr>
        <p:spPr>
          <a:xfrm>
            <a:off x="1920240" y="3739896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Build one </a:t>
            </a:r>
            <a:r>
              <a:rPr b="1" lang="en-US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EC2 </a:t>
            </a:r>
            <a:r>
              <a:rPr b="1" i="0" lang="en-US" sz="14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worker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4"/>
          <p:cNvSpPr txBox="1"/>
          <p:nvPr/>
        </p:nvSpPr>
        <p:spPr>
          <a:xfrm>
            <a:off x="5303520" y="3739896"/>
            <a:ext cx="5973775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Identity, /health, heartbeat, job state, and a forward path to llama-server</a:t>
            </a:r>
            <a:r>
              <a:rPr lang="en-US" sz="1200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 on each rig.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4"/>
          <p:cNvSpPr/>
          <p:nvPr/>
        </p:nvSpPr>
        <p:spPr>
          <a:xfrm>
            <a:off x="640080" y="4599432"/>
            <a:ext cx="10911535" cy="841248"/>
          </a:xfrm>
          <a:prstGeom prst="roundRect">
            <a:avLst>
              <a:gd fmla="val 978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4"/>
          <p:cNvSpPr/>
          <p:nvPr/>
        </p:nvSpPr>
        <p:spPr>
          <a:xfrm>
            <a:off x="896112" y="4809744"/>
            <a:ext cx="777240" cy="420624"/>
          </a:xfrm>
          <a:prstGeom prst="roundRect">
            <a:avLst>
              <a:gd fmla="val 50000" name="adj"/>
            </a:avLst>
          </a:prstGeom>
          <a:solidFill>
            <a:srgbClr val="23180D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4"/>
          <p:cNvSpPr txBox="1"/>
          <p:nvPr/>
        </p:nvSpPr>
        <p:spPr>
          <a:xfrm>
            <a:off x="896112" y="4809744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P3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4"/>
          <p:cNvSpPr txBox="1"/>
          <p:nvPr/>
        </p:nvSpPr>
        <p:spPr>
          <a:xfrm>
            <a:off x="1920240" y="4709160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Minimal broker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4"/>
          <p:cNvSpPr txBox="1"/>
          <p:nvPr/>
        </p:nvSpPr>
        <p:spPr>
          <a:xfrm>
            <a:off x="5303520" y="4709160"/>
            <a:ext cx="5973775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FastAPI + Redis registries, a job queue, and least-busy healthy-worker scheduling.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4"/>
          <p:cNvSpPr/>
          <p:nvPr/>
        </p:nvSpPr>
        <p:spPr>
          <a:xfrm>
            <a:off x="640080" y="5568696"/>
            <a:ext cx="10911535" cy="841248"/>
          </a:xfrm>
          <a:prstGeom prst="roundRect">
            <a:avLst>
              <a:gd fmla="val 978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4"/>
          <p:cNvSpPr/>
          <p:nvPr/>
        </p:nvSpPr>
        <p:spPr>
          <a:xfrm>
            <a:off x="896112" y="5779008"/>
            <a:ext cx="777240" cy="420624"/>
          </a:xfrm>
          <a:prstGeom prst="roundRect">
            <a:avLst>
              <a:gd fmla="val 50000" name="adj"/>
            </a:avLst>
          </a:prstGeom>
          <a:solidFill>
            <a:srgbClr val="23180D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4"/>
          <p:cNvSpPr txBox="1"/>
          <p:nvPr/>
        </p:nvSpPr>
        <p:spPr>
          <a:xfrm>
            <a:off x="896112" y="5779008"/>
            <a:ext cx="7772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4"/>
          <p:cNvSpPr txBox="1"/>
          <p:nvPr/>
        </p:nvSpPr>
        <p:spPr>
          <a:xfrm>
            <a:off x="1920240" y="5678424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First end-to-end demo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4"/>
          <p:cNvSpPr txBox="1"/>
          <p:nvPr/>
        </p:nvSpPr>
        <p:spPr>
          <a:xfrm>
            <a:off x="5303520" y="5678424"/>
            <a:ext cx="5973775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One prompt crosses client → broker → GPU → back, with logs at every hop.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4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32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91F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5"/>
          <p:cNvSpPr txBox="1"/>
          <p:nvPr/>
        </p:nvSpPr>
        <p:spPr>
          <a:xfrm>
            <a:off x="640080" y="418243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5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Beyond the pilot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5"/>
          <p:cNvSpPr/>
          <p:nvPr/>
        </p:nvSpPr>
        <p:spPr>
          <a:xfrm>
            <a:off x="640080" y="1874520"/>
            <a:ext cx="3393338" cy="2834640"/>
          </a:xfrm>
          <a:prstGeom prst="roundRect">
            <a:avLst>
              <a:gd fmla="val 290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5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headset.png" id="683" name="Google Shape;68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330" y="22777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25"/>
          <p:cNvSpPr txBox="1"/>
          <p:nvPr/>
        </p:nvSpPr>
        <p:spPr>
          <a:xfrm>
            <a:off x="960120" y="3017520"/>
            <a:ext cx="275325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VR build tutorial &amp; visualizer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5"/>
          <p:cNvSpPr txBox="1"/>
          <p:nvPr/>
        </p:nvSpPr>
        <p:spPr>
          <a:xfrm>
            <a:off x="960120" y="3657600"/>
            <a:ext cx="275325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A Quest 2 walkthrough of assembling the rig, plus a live 3D view of a request lighting up from client to card.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5"/>
          <p:cNvSpPr/>
          <p:nvPr/>
        </p:nvSpPr>
        <p:spPr>
          <a:xfrm>
            <a:off x="4399178" y="1874520"/>
            <a:ext cx="3393338" cy="2834640"/>
          </a:xfrm>
          <a:prstGeom prst="roundRect">
            <a:avLst>
              <a:gd fmla="val 290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5"/>
          <p:cNvSpPr/>
          <p:nvPr/>
        </p:nvSpPr>
        <p:spPr>
          <a:xfrm>
            <a:off x="4719218" y="219456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layers.png" id="688" name="Google Shape;68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2429" y="22777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25"/>
          <p:cNvSpPr txBox="1"/>
          <p:nvPr/>
        </p:nvSpPr>
        <p:spPr>
          <a:xfrm>
            <a:off x="4719218" y="3017520"/>
            <a:ext cx="275325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Multi-GPU / multi-rig scale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5"/>
          <p:cNvSpPr txBox="1"/>
          <p:nvPr/>
        </p:nvSpPr>
        <p:spPr>
          <a:xfrm>
            <a:off x="4719218" y="3657600"/>
            <a:ext cx="275325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Rig 1 promoted to production, Rig 2 as standby &amp; overflow, with tested failover between them.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5"/>
          <p:cNvSpPr/>
          <p:nvPr/>
        </p:nvSpPr>
        <p:spPr>
          <a:xfrm>
            <a:off x="8158277" y="1874520"/>
            <a:ext cx="3393338" cy="2834640"/>
          </a:xfrm>
          <a:prstGeom prst="roundRect">
            <a:avLst>
              <a:gd fmla="val 2903" name="adj"/>
            </a:avLst>
          </a:prstGeom>
          <a:solidFill>
            <a:srgbClr val="0F1116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5"/>
          <p:cNvSpPr/>
          <p:nvPr/>
        </p:nvSpPr>
        <p:spPr>
          <a:xfrm>
            <a:off x="8478317" y="2194560"/>
            <a:ext cx="640080" cy="64008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activity.png" id="693" name="Google Shape;69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61527" y="227777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25"/>
          <p:cNvSpPr txBox="1"/>
          <p:nvPr/>
        </p:nvSpPr>
        <p:spPr>
          <a:xfrm>
            <a:off x="8478317" y="3017520"/>
            <a:ext cx="275325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Full observability stack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5"/>
          <p:cNvSpPr txBox="1"/>
          <p:nvPr/>
        </p:nvSpPr>
        <p:spPr>
          <a:xfrm>
            <a:off x="8478317" y="3657600"/>
            <a:ext cx="2753258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GPU exporter → Prometheus → Grafana, replacing “SSH in and read logs” with real dashboards.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5"/>
          <p:cNvSpPr/>
          <p:nvPr/>
        </p:nvSpPr>
        <p:spPr>
          <a:xfrm>
            <a:off x="640080" y="4937760"/>
            <a:ext cx="10911535" cy="868680"/>
          </a:xfrm>
          <a:prstGeom prst="roundRect">
            <a:avLst>
              <a:gd fmla="val 9474" name="adj"/>
            </a:avLst>
          </a:prstGeom>
          <a:solidFill>
            <a:srgbClr val="08090B"/>
          </a:solidFill>
          <a:ln cap="flat" cmpd="sng" w="9525">
            <a:solidFill>
              <a:srgbClr val="2B2E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5"/>
          <p:cNvSpPr txBox="1"/>
          <p:nvPr/>
        </p:nvSpPr>
        <p:spPr>
          <a:xfrm>
            <a:off x="914400" y="4937760"/>
            <a:ext cx="1036289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Week 6 closes with a continuity drill and sponsor review — then the frozen demo package goes on display at Night at the Museum, our schoolwide gallery showcase.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5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35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90B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6"/>
          <p:cNvSpPr/>
          <p:nvPr/>
        </p:nvSpPr>
        <p:spPr>
          <a:xfrm>
            <a:off x="-2011680" y="-1828800"/>
            <a:ext cx="5486400" cy="5486400"/>
          </a:xfrm>
          <a:prstGeom prst="ellipse">
            <a:avLst/>
          </a:prstGeom>
          <a:solidFill>
            <a:srgbClr val="D87A3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6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D87A30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6"/>
          <p:cNvSpPr/>
          <p:nvPr/>
        </p:nvSpPr>
        <p:spPr>
          <a:xfrm>
            <a:off x="5592928" y="1417320"/>
            <a:ext cx="1005840" cy="1005840"/>
          </a:xfrm>
          <a:prstGeom prst="ellipse">
            <a:avLst/>
          </a:prstGeom>
          <a:solidFill>
            <a:srgbClr val="D87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tmp/claude-0/-home-claude/f531a3ee-b4f3-5131-a1d8-d5f7e12cb307/scratchpad/work/icons/flame.png" id="707" name="Google Shape;7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23687" y="1548079"/>
            <a:ext cx="744322" cy="744322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26"/>
          <p:cNvSpPr txBox="1"/>
          <p:nvPr/>
        </p:nvSpPr>
        <p:spPr>
          <a:xfrm>
            <a:off x="0" y="269748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EFDFC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6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7A3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D87A3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6"/>
          <p:cNvSpPr/>
          <p:nvPr/>
        </p:nvSpPr>
        <p:spPr>
          <a:xfrm>
            <a:off x="3718408" y="4251960"/>
            <a:ext cx="4754880" cy="457200"/>
          </a:xfrm>
          <a:prstGeom prst="roundRect">
            <a:avLst>
              <a:gd fmla="val 50000" name="adj"/>
            </a:avLst>
          </a:prstGeom>
          <a:solidFill>
            <a:srgbClr val="1D2028"/>
          </a:solidFill>
          <a:ln cap="flat" cmpd="sng" w="12700">
            <a:solidFill>
              <a:srgbClr val="D87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6"/>
          <p:cNvSpPr txBox="1"/>
          <p:nvPr/>
        </p:nvSpPr>
        <p:spPr>
          <a:xfrm>
            <a:off x="3718408" y="42519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github.com/Open-Coding-Society · OCS-Intelligence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6"/>
          <p:cNvSpPr txBox="1"/>
          <p:nvPr/>
        </p:nvSpPr>
        <p:spPr>
          <a:xfrm>
            <a:off x="1554480" y="5029200"/>
            <a:ext cx="908273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— built by students, running on hardware we own, serving free coding models to every OCS student.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6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FDFC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DFCF"/>
                </a:solidFill>
                <a:latin typeface="Calibri"/>
                <a:ea typeface="Calibri"/>
                <a:cs typeface="Calibri"/>
                <a:sym typeface="Calibri"/>
              </a:rPr>
              <a:t>OCS INTELLIGENCE  ·  36 / 36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leads, who reports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895448" y="155448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08090B"/>
          </a:solidFill>
          <a:ln w="15875">
            <a:solidFill>
              <a:srgbClr val="D87A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86888" y="1645920"/>
            <a:ext cx="27432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Eddie Revollo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941168" y="2018995"/>
            <a:ext cx="2834640" cy="303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· PROMETHEUS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370168" y="155448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08090B"/>
          </a:solidFill>
          <a:ln w="15875">
            <a:solidFill>
              <a:srgbClr val="D87A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45920"/>
            <a:ext cx="27432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Mr. John Mortensen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15888" y="2018995"/>
            <a:ext cx="2834640" cy="303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58488" y="2377440"/>
            <a:ext cx="0" cy="301752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33208" y="2377440"/>
            <a:ext cx="0" cy="301752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679192"/>
            <a:ext cx="4965192" cy="0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2679192"/>
            <a:ext cx="0" cy="246888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77072" y="2679192"/>
            <a:ext cx="0" cy="246888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292608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23180D"/>
          </a:solidFill>
          <a:ln w="15875">
            <a:solidFill>
              <a:srgbClr val="D87A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40280" y="3017520"/>
            <a:ext cx="27432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Yash Parikh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390595"/>
            <a:ext cx="2834640" cy="303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TEAM LEAD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14032" y="292608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0F1116"/>
          </a:solidFill>
          <a:ln w="15875">
            <a:solidFill>
              <a:srgbClr val="8A8D9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05472" y="3017520"/>
            <a:ext cx="27432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Nikhil Maturi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159752" y="3390595"/>
            <a:ext cx="2834640" cy="303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DFC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TEAM LEAD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11880" y="3749040"/>
            <a:ext cx="0" cy="365760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4114800"/>
            <a:ext cx="2468880" cy="0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4114800"/>
            <a:ext cx="0" cy="320040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4114800"/>
            <a:ext cx="0" cy="320040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77072" y="3749040"/>
            <a:ext cx="0" cy="365760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42632" y="4114800"/>
            <a:ext cx="2468880" cy="0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42632" y="4114800"/>
            <a:ext cx="0" cy="320040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11512" y="4114800"/>
            <a:ext cx="0" cy="320040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80160" y="4434840"/>
            <a:ext cx="2194560" cy="731520"/>
          </a:xfrm>
          <a:prstGeom prst="roundRect">
            <a:avLst>
              <a:gd name="adj" fmla="val 11250"/>
            </a:avLst>
          </a:prstGeom>
          <a:solidFill>
            <a:srgbClr val="0F1116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371600" y="4526280"/>
            <a:ext cx="2011680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Mihir Bapat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325880" y="4851806"/>
            <a:ext cx="2103120" cy="259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DFC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 YASH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49040" y="4434840"/>
            <a:ext cx="2194560" cy="731520"/>
          </a:xfrm>
          <a:prstGeom prst="roundRect">
            <a:avLst>
              <a:gd name="adj" fmla="val 11250"/>
            </a:avLst>
          </a:prstGeom>
          <a:solidFill>
            <a:srgbClr val="0F1116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40480" y="4526280"/>
            <a:ext cx="2011680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Anvay Vahia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3794760" y="4851806"/>
            <a:ext cx="2103120" cy="259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DFC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 YASH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45352" y="4434840"/>
            <a:ext cx="2194560" cy="731520"/>
          </a:xfrm>
          <a:prstGeom prst="roundRect">
            <a:avLst>
              <a:gd name="adj" fmla="val 11250"/>
            </a:avLst>
          </a:prstGeom>
          <a:solidFill>
            <a:srgbClr val="0F1116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36792" y="4526280"/>
            <a:ext cx="2011680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Yash Patil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6291072" y="4851806"/>
            <a:ext cx="2103120" cy="259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DFC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 NIKHIL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714232" y="4434840"/>
            <a:ext cx="2194560" cy="731520"/>
          </a:xfrm>
          <a:prstGeom prst="roundRect">
            <a:avLst>
              <a:gd name="adj" fmla="val 11250"/>
            </a:avLst>
          </a:prstGeom>
          <a:solidFill>
            <a:srgbClr val="0F1116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805672" y="4526280"/>
            <a:ext cx="2011680" cy="3346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 Katre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8759952" y="4851806"/>
            <a:ext cx="2103120" cy="259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DFC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TO NIKHIL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89904" y="2743200"/>
            <a:ext cx="4974336" cy="2807208"/>
          </a:xfrm>
          <a:prstGeom prst="roundRect">
            <a:avLst>
              <a:gd name="adj" fmla="val 3909"/>
            </a:avLst>
          </a:prstGeom>
          <a:solidFill>
            <a:srgbClr val="D87A30">
              <a:alpha val="6000"/>
            </a:srgbClr>
          </a:solidFill>
          <a:ln w="15875">
            <a:solidFill>
              <a:srgbClr val="D87A30"/>
            </a:solidFill>
            <a:prstDash val="dash"/>
          </a:ln>
        </p:spPr>
      </p:sp>
      <p:sp>
        <p:nvSpPr>
          <p:cNvPr id="42" name="Text 40"/>
          <p:cNvSpPr txBox="1"/>
          <p:nvPr/>
        </p:nvSpPr>
        <p:spPr>
          <a:xfrm>
            <a:off x="6089904" y="523951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Nikhil's pod — also overseen by Yash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74920" y="3337560"/>
            <a:ext cx="1014984" cy="0"/>
          </a:xfrm>
          <a:prstGeom prst="line">
            <a:avLst/>
          </a:prstGeom>
          <a:noFill/>
          <a:ln w="22225">
            <a:solidFill>
              <a:srgbClr val="D87A30"/>
            </a:solidFill>
            <a:prstDash val="dash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5074920" y="302666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" y="6117336"/>
            <a:ext cx="548640" cy="0"/>
          </a:xfrm>
          <a:prstGeom prst="line">
            <a:avLst/>
          </a:prstGeom>
          <a:noFill/>
          <a:ln w="19050">
            <a:solidFill>
              <a:srgbClr val="6B6E7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280160" y="5989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DFC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report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834640" y="6117336"/>
            <a:ext cx="548640" cy="0"/>
          </a:xfrm>
          <a:prstGeom prst="line">
            <a:avLst/>
          </a:prstGeom>
          <a:noFill/>
          <a:ln w="19050">
            <a:solidFill>
              <a:srgbClr val="D87A30"/>
            </a:solidFill>
            <a:prstDash val="dash"/>
          </a:ln>
        </p:spPr>
      </p:sp>
      <p:sp>
        <p:nvSpPr>
          <p:cNvPr id="48" name="Text 46"/>
          <p:cNvSpPr txBox="1"/>
          <p:nvPr/>
        </p:nvSpPr>
        <p:spPr>
          <a:xfrm>
            <a:off x="3474720" y="59893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DFC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— Yash oversees the whole team, including Nikhil and his pod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DFC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 INTELLIGENCE  ·  04 / 36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· END TO 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layer a request touches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path shown. Live today: Open WebUI (Docker) → Ollama over NetBird; the broker, Redis and RDS are being built (P2–P3).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600200" cy="3611880"/>
          </a:xfrm>
          <a:prstGeom prst="roundRect">
            <a:avLst>
              <a:gd name="adj" fmla="val 5714"/>
            </a:avLst>
          </a:prstGeom>
          <a:solidFill>
            <a:srgbClr val="08090B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2821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2057400"/>
            <a:ext cx="3429000" cy="3611880"/>
          </a:xfrm>
          <a:prstGeom prst="roundRect">
            <a:avLst>
              <a:gd name="adj" fmla="val 2667"/>
            </a:avLst>
          </a:prstGeom>
          <a:solidFill>
            <a:srgbClr val="08090B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7282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EDGE · AWS EC2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0" y="2057400"/>
            <a:ext cx="1463040" cy="3611880"/>
          </a:xfrm>
          <a:prstGeom prst="roundRect">
            <a:avLst>
              <a:gd name="adj" fmla="val 6250"/>
            </a:avLst>
          </a:prstGeom>
          <a:solidFill>
            <a:srgbClr val="08090B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52160" y="1728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NETWORK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0" y="2057400"/>
            <a:ext cx="4233672" cy="3611880"/>
          </a:xfrm>
          <a:prstGeom prst="roundRect">
            <a:avLst>
              <a:gd name="adj" fmla="val 2532"/>
            </a:avLst>
          </a:prstGeom>
          <a:solidFill>
            <a:srgbClr val="08090B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0" y="1728216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· 2 GPU RIGS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926080"/>
            <a:ext cx="1325880" cy="868680"/>
          </a:xfrm>
          <a:prstGeom prst="roundRect">
            <a:avLst>
              <a:gd name="adj" fmla="val 7368"/>
            </a:avLst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" y="2926080"/>
            <a:ext cx="1216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chat UI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95728" y="292608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50592" y="2926080"/>
            <a:ext cx="1307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 + TLS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in · per-IP limits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069080" y="2926080"/>
            <a:ext cx="1463040" cy="868680"/>
          </a:xfrm>
          <a:prstGeom prst="roundRect">
            <a:avLst>
              <a:gd name="adj" fmla="val 7368"/>
            </a:avLst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23944" y="2926080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broker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queue · scheduling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95728" y="43434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50592" y="4343400"/>
            <a:ext cx="1307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durable: users, history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9080" y="4343400"/>
            <a:ext cx="1463040" cy="777240"/>
          </a:xfrm>
          <a:prstGeom prst="roundRect">
            <a:avLst>
              <a:gd name="adj" fmla="val 8235"/>
            </a:avLst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23944" y="434340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registry, locks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2926080"/>
            <a:ext cx="1188720" cy="868680"/>
          </a:xfrm>
          <a:prstGeom prst="roundRect">
            <a:avLst>
              <a:gd name="adj" fmla="val 7368"/>
            </a:avLst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44184" y="2926080"/>
            <a:ext cx="1078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NetBird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overlay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920240" y="3360420"/>
            <a:ext cx="475488" cy="0"/>
          </a:xfrm>
          <a:prstGeom prst="line">
            <a:avLst/>
          </a:prstGeom>
          <a:noFill/>
          <a:ln w="22225">
            <a:solidFill>
              <a:srgbClr val="D87A3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813048" y="3360420"/>
            <a:ext cx="256032" cy="0"/>
          </a:xfrm>
          <a:prstGeom prst="line">
            <a:avLst/>
          </a:prstGeom>
          <a:noFill/>
          <a:ln w="22225">
            <a:solidFill>
              <a:srgbClr val="D87A3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32120" y="3360420"/>
            <a:ext cx="457200" cy="0"/>
          </a:xfrm>
          <a:prstGeom prst="line">
            <a:avLst/>
          </a:prstGeom>
          <a:noFill/>
          <a:ln w="22225">
            <a:solidFill>
              <a:srgbClr val="D87A3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800600" y="3794760"/>
            <a:ext cx="0" cy="548640"/>
          </a:xfrm>
          <a:prstGeom prst="line">
            <a:avLst/>
          </a:prstGeom>
          <a:noFill/>
          <a:ln w="15875">
            <a:solidFill>
              <a:srgbClr val="8A8D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08960" y="4069080"/>
            <a:ext cx="1691640" cy="0"/>
          </a:xfrm>
          <a:prstGeom prst="line">
            <a:avLst/>
          </a:prstGeom>
          <a:noFill/>
          <a:ln w="15875">
            <a:solidFill>
              <a:srgbClr val="8A8D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4069080"/>
            <a:ext cx="0" cy="274320"/>
          </a:xfrm>
          <a:prstGeom prst="line">
            <a:avLst/>
          </a:prstGeom>
          <a:noFill/>
          <a:ln w="15875">
            <a:solidFill>
              <a:srgbClr val="8A8D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16952" y="2487168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71816" y="248716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llama-server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· OpenAI-style API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577072" y="2999232"/>
            <a:ext cx="0" cy="73152"/>
          </a:xfrm>
          <a:prstGeom prst="line">
            <a:avLst/>
          </a:prstGeom>
          <a:noFill/>
          <a:ln w="15875">
            <a:solidFill>
              <a:srgbClr val="D87A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16952" y="3072384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71816" y="3072384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GGUF model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Qwen3.8 27B · Q4_K_M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77072" y="3584448"/>
            <a:ext cx="0" cy="73152"/>
          </a:xfrm>
          <a:prstGeom prst="line">
            <a:avLst/>
          </a:prstGeom>
          <a:noFill/>
          <a:ln w="15875">
            <a:solidFill>
              <a:srgbClr val="D87A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16952" y="3657600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71816" y="3657600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CUDA + NVIDIA driver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host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577072" y="4169664"/>
            <a:ext cx="0" cy="73152"/>
          </a:xfrm>
          <a:prstGeom prst="line">
            <a:avLst/>
          </a:prstGeom>
          <a:noFill/>
          <a:ln w="15875">
            <a:solidFill>
              <a:srgbClr val="D87A3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16952" y="4242816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1D1610"/>
          </a:solidFill>
          <a:ln w="12700">
            <a:solidFill>
              <a:srgbClr val="5A3D2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71816" y="4242816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ASUS B250 mining board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risers · PSU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577072" y="4754880"/>
            <a:ext cx="0" cy="73152"/>
          </a:xfrm>
          <a:prstGeom prst="line">
            <a:avLst/>
          </a:prstGeom>
          <a:noFill/>
          <a:ln w="15875">
            <a:solidFill>
              <a:srgbClr val="D87A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16952" y="4828032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1D1610"/>
          </a:solidFill>
          <a:ln w="12700">
            <a:solidFill>
              <a:srgbClr val="5A3D2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671816" y="4828032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8× GTX 1070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VRAM each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7616952" y="54315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DFC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1 · PRODUCTION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692640" y="2487168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747504" y="2487168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llama-server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systemd · OpenAI-style API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652760" y="2999232"/>
            <a:ext cx="0" cy="73152"/>
          </a:xfrm>
          <a:prstGeom prst="line">
            <a:avLst/>
          </a:prstGeom>
          <a:noFill/>
          <a:ln w="15875">
            <a:solidFill>
              <a:srgbClr val="D87A3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92640" y="3072384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747504" y="3072384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GGUF model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Qwen3.8 27B · Q4_K_M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652760" y="3584448"/>
            <a:ext cx="0" cy="73152"/>
          </a:xfrm>
          <a:prstGeom prst="line">
            <a:avLst/>
          </a:prstGeom>
          <a:noFill/>
          <a:ln w="15875">
            <a:solidFill>
              <a:srgbClr val="D87A3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692640" y="3657600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747504" y="3657600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CUDA + NVIDIA driver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host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0652760" y="4169664"/>
            <a:ext cx="0" cy="73152"/>
          </a:xfrm>
          <a:prstGeom prst="line">
            <a:avLst/>
          </a:prstGeom>
          <a:noFill/>
          <a:ln w="15875">
            <a:solidFill>
              <a:srgbClr val="D87A3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92640" y="4242816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1D1610"/>
          </a:solidFill>
          <a:ln w="12700">
            <a:solidFill>
              <a:srgbClr val="5A3D22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747504" y="4242816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ASUS B250 mining board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PCIe risers · PSU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10652760" y="4754880"/>
            <a:ext cx="0" cy="73152"/>
          </a:xfrm>
          <a:prstGeom prst="line">
            <a:avLst/>
          </a:prstGeom>
          <a:noFill/>
          <a:ln w="15875">
            <a:solidFill>
              <a:srgbClr val="D87A3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692640" y="4828032"/>
            <a:ext cx="1920240" cy="512064"/>
          </a:xfrm>
          <a:prstGeom prst="roundRect">
            <a:avLst>
              <a:gd name="adj" fmla="val 12500"/>
            </a:avLst>
          </a:prstGeom>
          <a:solidFill>
            <a:srgbClr val="1D1610"/>
          </a:solidFill>
          <a:ln w="12700">
            <a:solidFill>
              <a:srgbClr val="5A3D2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747504" y="4828032"/>
            <a:ext cx="18105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8× GTX 1070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VRAM each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9692640" y="543153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DFC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 2 · DEV &amp; TEST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040" y="3360420"/>
            <a:ext cx="228600" cy="0"/>
          </a:xfrm>
          <a:prstGeom prst="line">
            <a:avLst/>
          </a:prstGeom>
          <a:noFill/>
          <a:ln w="19050">
            <a:solidFill>
              <a:srgbClr val="D87A3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406640" y="2258568"/>
            <a:ext cx="0" cy="1101852"/>
          </a:xfrm>
          <a:prstGeom prst="line">
            <a:avLst/>
          </a:prstGeom>
          <a:noFill/>
          <a:ln w="19050">
            <a:solidFill>
              <a:srgbClr val="D87A3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06640" y="2258568"/>
            <a:ext cx="3246120" cy="0"/>
          </a:xfrm>
          <a:prstGeom prst="line">
            <a:avLst/>
          </a:prstGeom>
          <a:noFill/>
          <a:ln w="19050">
            <a:solidFill>
              <a:srgbClr val="D87A3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577072" y="2258568"/>
            <a:ext cx="0" cy="228600"/>
          </a:xfrm>
          <a:prstGeom prst="line">
            <a:avLst/>
          </a:prstGeom>
          <a:noFill/>
          <a:ln w="19050">
            <a:solidFill>
              <a:srgbClr val="D87A3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10652760" y="2258568"/>
            <a:ext cx="0" cy="228600"/>
          </a:xfrm>
          <a:prstGeom prst="line">
            <a:avLst/>
          </a:prstGeom>
          <a:noFill/>
          <a:ln w="19050">
            <a:solidFill>
              <a:srgbClr val="D87A30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9464040" y="5989320"/>
            <a:ext cx="201168" cy="164592"/>
          </a:xfrm>
          <a:prstGeom prst="rect">
            <a:avLst/>
          </a:prstGeom>
          <a:solidFill>
            <a:srgbClr val="0F1116"/>
          </a:solidFill>
          <a:ln w="12700">
            <a:solidFill>
              <a:srgbClr val="3A3D46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729216" y="5943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0561320" y="5989320"/>
            <a:ext cx="201168" cy="164592"/>
          </a:xfrm>
          <a:prstGeom prst="rect">
            <a:avLst/>
          </a:prstGeom>
          <a:solidFill>
            <a:srgbClr val="1D1610"/>
          </a:solidFill>
          <a:ln w="12700">
            <a:solidFill>
              <a:srgbClr val="5A3D2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826496" y="59436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257300" y="5870448"/>
            <a:ext cx="9966960" cy="0"/>
          </a:xfrm>
          <a:prstGeom prst="line">
            <a:avLst/>
          </a:prstGeom>
          <a:noFill/>
          <a:ln w="15875">
            <a:solidFill>
              <a:srgbClr val="EFDFCF">
                <a:alpha val="60000"/>
              </a:srgbClr>
            </a:solidFill>
            <a:prstDash val="dash"/>
          </a:ln>
        </p:spPr>
      </p:sp>
      <p:sp>
        <p:nvSpPr>
          <p:cNvPr id="71" name="Text 69"/>
          <p:cNvSpPr txBox="1"/>
          <p:nvPr/>
        </p:nvSpPr>
        <p:spPr>
          <a:xfrm>
            <a:off x="20116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FDFC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tokens stream back along the same path  ←</a:t>
            </a:r>
            <a:endParaRPr lang="en-US" sz="1050" dirty="0"/>
          </a:p>
        </p:txBody>
      </p:sp>
      <p:sp>
        <p:nvSpPr>
          <p:cNvPr id="72" name="Text 70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DFC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 INTELLIGENCE  ·  09 / 36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rigs legible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FDFC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walking up to the rack should know which rig is which, which cards are alive, and exactly where a failure is — without SSH-ing 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393338" cy="2514600"/>
          </a:xfrm>
          <a:prstGeom prst="roundRect">
            <a:avLst>
              <a:gd name="adj" fmla="val 3273"/>
            </a:avLst>
          </a:prstGeom>
          <a:solidFill>
            <a:srgbClr val="0F1116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788920"/>
            <a:ext cx="621792" cy="621792"/>
          </a:xfrm>
          <a:prstGeom prst="ellipse">
            <a:avLst/>
          </a:prstGeom>
          <a:solidFill>
            <a:srgbClr val="D87A30"/>
          </a:solidFill>
          <a:ln/>
        </p:spPr>
      </p:sp>
      <p:pic>
        <p:nvPicPr>
          <p:cNvPr id="7" name="Image 0" descr="/tmp/claude-0/-home-claude/f531a3ee-b4f3-5131-a1d8-d5f7e12cb307/scratchpad/work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953" y="2869753"/>
            <a:ext cx="460126" cy="46012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210458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FDFCF">
                    <a:alpha val="3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56616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the rigs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005072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DFC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physical labels on Rig 1 and Rig 2 so Mr. Mortensen knows which rig is where — and what each one does.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99178" y="2468880"/>
            <a:ext cx="3393338" cy="2514600"/>
          </a:xfrm>
          <a:prstGeom prst="roundRect">
            <a:avLst>
              <a:gd name="adj" fmla="val 3273"/>
            </a:avLst>
          </a:prstGeom>
          <a:solidFill>
            <a:srgbClr val="0F1116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19218" y="2788920"/>
            <a:ext cx="621792" cy="621792"/>
          </a:xfrm>
          <a:prstGeom prst="ellipse">
            <a:avLst/>
          </a:prstGeom>
          <a:solidFill>
            <a:srgbClr val="D87A30"/>
          </a:solidFill>
          <a:ln/>
        </p:spPr>
      </p:sp>
      <p:pic>
        <p:nvPicPr>
          <p:cNvPr id="13" name="Image 1" descr="/tmp/claude-0/-home-claude/f531a3ee-b4f3-5131-a1d8-d5f7e12cb307/scratchpad/work/icons/check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51" y="2869753"/>
            <a:ext cx="460126" cy="46012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969557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FDFCF">
                    <a:alpha val="3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719218" y="356616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every GPU</a:t>
            </a:r>
            <a:endParaRPr lang="en-US" sz="1650" dirty="0"/>
          </a:p>
        </p:txBody>
      </p:sp>
      <p:sp>
        <p:nvSpPr>
          <p:cNvPr id="16" name="Text 12"/>
          <p:cNvSpPr txBox="1"/>
          <p:nvPr/>
        </p:nvSpPr>
        <p:spPr>
          <a:xfrm>
            <a:off x="4719218" y="4005072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DFC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tagged functional and active, so the state of all sixteen cards is visible on the rack itself.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58277" y="2468880"/>
            <a:ext cx="3393338" cy="2514600"/>
          </a:xfrm>
          <a:prstGeom prst="roundRect">
            <a:avLst>
              <a:gd name="adj" fmla="val 3273"/>
            </a:avLst>
          </a:prstGeom>
          <a:solidFill>
            <a:srgbClr val="0F1116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478317" y="2788920"/>
            <a:ext cx="621792" cy="621792"/>
          </a:xfrm>
          <a:prstGeom prst="ellipse">
            <a:avLst/>
          </a:prstGeom>
          <a:solidFill>
            <a:srgbClr val="D87A30"/>
          </a:solidFill>
          <a:ln/>
        </p:spPr>
      </p:sp>
      <p:pic>
        <p:nvPicPr>
          <p:cNvPr id="19" name="Image 2" descr="/tmp/claude-0/-home-claude/f531a3ee-b4f3-5131-a1d8-d5f7e12cb307/scratchpad/work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150" y="2869753"/>
            <a:ext cx="460126" cy="46012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728655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FDFCF">
                    <a:alpha val="3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478317" y="356616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rigs into subgroups</a:t>
            </a:r>
            <a:endParaRPr lang="en-US" sz="1650" dirty="0"/>
          </a:p>
        </p:txBody>
      </p:sp>
      <p:sp>
        <p:nvSpPr>
          <p:cNvPr id="22" name="Text 17"/>
          <p:cNvSpPr txBox="1"/>
          <p:nvPr/>
        </p:nvSpPr>
        <p:spPr>
          <a:xfrm>
            <a:off x="8478317" y="4005072"/>
            <a:ext cx="27532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DFC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cards by physical location so a failure points to an exact spot — and we can show what each rig does and the impact it creates.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40080" y="5257800"/>
            <a:ext cx="5272888" cy="566928"/>
          </a:xfrm>
          <a:prstGeom prst="roundRect">
            <a:avLst>
              <a:gd name="adj" fmla="val 14516"/>
            </a:avLst>
          </a:prstGeom>
          <a:solidFill>
            <a:srgbClr val="08090B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22960" y="536752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23180D"/>
          </a:solidFill>
          <a:ln w="12700">
            <a:solidFill>
              <a:srgbClr val="D87A30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22960" y="5367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2377440" y="5257800"/>
            <a:ext cx="3352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for Week 0 and Week 1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278728" y="5257800"/>
            <a:ext cx="5272888" cy="566928"/>
          </a:xfrm>
          <a:prstGeom prst="roundRect">
            <a:avLst>
              <a:gd name="adj" fmla="val 14516"/>
            </a:avLst>
          </a:prstGeom>
          <a:solidFill>
            <a:srgbClr val="08090B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61608" y="536752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1A1C22"/>
          </a:solidFill>
          <a:ln w="12700">
            <a:solidFill>
              <a:srgbClr val="8A8D96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461608" y="53675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8016088" y="5257800"/>
            <a:ext cx="33526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E2E flowchart — slide 9</a:t>
            </a:r>
            <a:endParaRPr lang="en-US" sz="1250" dirty="0"/>
          </a:p>
        </p:txBody>
      </p:sp>
      <p:sp>
        <p:nvSpPr>
          <p:cNvPr id="31" name="Text 26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DFC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 INTELLIGENCE  ·  33 / 36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· HOW WE SCALE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Crawl, walk, run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FDFC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slow while we learn, get better as we do more, then deploy — each stage earns the next.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332378" cy="2377440"/>
          </a:xfrm>
          <a:prstGeom prst="roundRect">
            <a:avLst>
              <a:gd name="adj" fmla="val 3462"/>
            </a:avLst>
          </a:prstGeom>
          <a:solidFill>
            <a:srgbClr val="0F1116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06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A1C22"/>
          </a:solidFill>
          <a:ln w="12700">
            <a:solidFill>
              <a:srgbClr val="D87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089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it by hand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1188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 &amp; Week 1 playbooks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done manually and written down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972458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7A30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429658" y="2331720"/>
            <a:ext cx="3332378" cy="2377440"/>
          </a:xfrm>
          <a:prstGeom prst="roundRect">
            <a:avLst>
              <a:gd name="adj" fmla="val 3462"/>
            </a:avLst>
          </a:prstGeom>
          <a:solidFill>
            <a:srgbClr val="0F1116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3978" y="2606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1A1C22"/>
          </a:solidFill>
          <a:ln w="12700">
            <a:solidFill>
              <a:srgbClr val="D87A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3978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03978" y="31089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visible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703978" y="361188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rigs, labeled GPUs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Subgroups that pinpoint physical failures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E2E map of the whole stack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762037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7A30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19237" y="2331720"/>
            <a:ext cx="3332378" cy="2377440"/>
          </a:xfrm>
          <a:prstGeom prst="roundRect">
            <a:avLst>
              <a:gd name="adj" fmla="val 3462"/>
            </a:avLst>
          </a:prstGeom>
          <a:solidFill>
            <a:srgbClr val="1D1610"/>
          </a:solidFill>
          <a:ln w="9525">
            <a:solidFill>
              <a:srgbClr val="D87A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93557" y="260604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3180D"/>
          </a:solidFill>
          <a:ln w="12700">
            <a:solidFill>
              <a:srgbClr val="D87A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93557" y="2606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493557" y="3108960"/>
            <a:ext cx="27837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DF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and self-heal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493557" y="361188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agentic AI in a self-healing loop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uptime without constant human intervention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0911535" cy="1051560"/>
          </a:xfrm>
          <a:prstGeom prst="roundRect">
            <a:avLst>
              <a:gd name="adj" fmla="val 7826"/>
            </a:avLst>
          </a:prstGeom>
          <a:solidFill>
            <a:srgbClr val="08090B"/>
          </a:solidFill>
          <a:ln w="9525">
            <a:solidFill>
              <a:srgbClr val="2B2E3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5148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54864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D2028"/>
          </a:solidFill>
          <a:ln w="12700">
            <a:solidFill>
              <a:srgbClr val="6B6E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5486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874520" y="54864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7A30"/>
                </a:solidFill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03120" y="54864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D2028"/>
          </a:solidFill>
          <a:ln w="12700">
            <a:solidFill>
              <a:srgbClr val="6B6E7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03120" y="5486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063240" y="54864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7A30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91840" y="54864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D2028"/>
          </a:solidFill>
          <a:ln w="12700">
            <a:solidFill>
              <a:srgbClr val="6B6E7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91840" y="5486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251960" y="54864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7A30"/>
                </a:solidFill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80560" y="54864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D2028"/>
          </a:solidFill>
          <a:ln w="12700">
            <a:solidFill>
              <a:srgbClr val="6B6E7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0560" y="5486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440680" y="548640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7A30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0" y="548640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1D2028"/>
          </a:solidFill>
          <a:ln w="12700">
            <a:solidFill>
              <a:srgbClr val="6B6E7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0" y="54864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647688" y="544068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7A30"/>
                </a:solidFill>
              </a:rPr>
              <a:t>↻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5074920"/>
            <a:ext cx="4099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8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FD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agent keep uptime very high without a human in the loop for every fault?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265615" y="6400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FDFC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 INTELLIGENCE  ·  34 / 36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2026-09-27T18:27:49Z</dcterms:created>
  <dc:creator>PptxGenJS</dc:creator>
</cp:coreProperties>
</file>